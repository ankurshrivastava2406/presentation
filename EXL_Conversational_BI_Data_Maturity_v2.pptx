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Row-based variant of the maturity slide. Read left to right per level: what the data looks like, what conversational BI can deliver on it, and the pitfall that must be cleared to move up. L3 is the practical floor - both Cortex Analyst and Genie assume a small curated set of tables and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Into Relevant EXL Domain &amp; Technical Capabilities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11480" y="512064"/>
            <a:ext cx="384048" cy="384048"/>
          </a:xfrm>
          <a:prstGeom prst="rect">
            <a:avLst/>
          </a:prstGeom>
          <a:solidFill>
            <a:srgbClr val="C0434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12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04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maturity decides how far conversational BI can actually go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unlocks a different class of question — and each gate is one of the pitfalls we see repeatedly in client implementations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94560" y="1335024"/>
            <a:ext cx="312420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335024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 at this level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10200" y="1335024"/>
            <a:ext cx="312420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5410200" y="1335024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conversational BI can deliver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25840" y="1335024"/>
            <a:ext cx="312420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8625840" y="1335024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to clear before the next level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133502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level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1719072"/>
            <a:ext cx="1691640" cy="786384"/>
          </a:xfrm>
          <a:prstGeom prst="roundRect">
            <a:avLst>
              <a:gd name="adj" fmla="val 5814"/>
            </a:avLst>
          </a:prstGeom>
          <a:solidFill>
            <a:srgbClr val="D7DEE9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1719072"/>
            <a:ext cx="1545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94560" y="1719072"/>
            <a:ext cx="3124200" cy="786384"/>
          </a:xfrm>
          <a:prstGeom prst="rect">
            <a:avLst/>
          </a:prstGeom>
          <a:solidFill>
            <a:srgbClr val="F7F9FC"/>
          </a:solidFill>
          <a:ln w="9525">
            <a:solidFill>
              <a:srgbClr val="D3D9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1773936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extracts and report-level logic. Several tables answer the same question differently; no single owner for a KPI.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10200" y="1719072"/>
            <a:ext cx="3124200" cy="786384"/>
          </a:xfrm>
          <a:prstGeom prst="rect">
            <a:avLst/>
          </a:prstGeom>
          <a:solidFill>
            <a:srgbClr val="F7F9FC"/>
          </a:solidFill>
          <a:ln w="9525">
            <a:solidFill>
              <a:srgbClr val="D3D9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01640" y="1773936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Single-table lookups only. The same question asked twice returns two different numbers — trust is lost in week one.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625840" y="1719072"/>
            <a:ext cx="3124200" cy="786384"/>
          </a:xfrm>
          <a:prstGeom prst="rect">
            <a:avLst/>
          </a:prstGeom>
          <a:solidFill>
            <a:srgbClr val="FBEFEF"/>
          </a:solidFill>
          <a:ln w="9525">
            <a:solidFill>
              <a:srgbClr val="EBCD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17280" y="1773936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A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Un-rationalized data products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into business-centric certified tables; one owner and one definition per KPI.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560320"/>
            <a:ext cx="1691640" cy="786384"/>
          </a:xfrm>
          <a:prstGeom prst="roundRect">
            <a:avLst>
              <a:gd name="adj" fmla="val 5814"/>
            </a:avLst>
          </a:prstGeom>
          <a:solidFill>
            <a:srgbClr val="B4C6DE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2560320"/>
            <a:ext cx="1545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194560" y="2560320"/>
            <a:ext cx="3124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2615184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ingested and conformed, duplicates resolved. Column names still technical, with no business context attached.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10200" y="2560320"/>
            <a:ext cx="3124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1640" y="2615184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counts and sums inside one domain. Business phrasing misfires: “top customers” resolves to “accounts”.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25840" y="2560320"/>
            <a:ext cx="3124200" cy="786384"/>
          </a:xfrm>
          <a:prstGeom prst="rect">
            <a:avLst/>
          </a:prstGeom>
          <a:solidFill>
            <a:srgbClr val="FBEFEF"/>
          </a:solidFill>
          <a:ln w="9525">
            <a:solidFill>
              <a:srgbClr val="EBCD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17280" y="2615184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A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business metadata &amp; context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business-friendly names, descriptions, synonyms and allowed values in the catalog.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401568"/>
            <a:ext cx="1691640" cy="786384"/>
          </a:xfrm>
          <a:prstGeom prst="roundRect">
            <a:avLst>
              <a:gd name="adj" fmla="val 5814"/>
            </a:avLst>
          </a:prstGeom>
          <a:solidFill>
            <a:srgbClr val="6E93C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" y="3401568"/>
            <a:ext cx="1545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gold products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194560" y="3401568"/>
            <a:ext cx="3124200" cy="786384"/>
          </a:xfrm>
          <a:prstGeom prst="rect">
            <a:avLst/>
          </a:prstGeom>
          <a:solidFill>
            <a:srgbClr val="F7F9FC"/>
          </a:solidFill>
          <a:ln w="9525">
            <a:solidFill>
              <a:srgbClr val="D3D9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0" y="3456432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gold data products with approved KPI rules, flattened joins, ownership, lineage and quality checks.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10200" y="3401568"/>
            <a:ext cx="3124200" cy="786384"/>
          </a:xfrm>
          <a:prstGeom prst="rect">
            <a:avLst/>
          </a:prstGeom>
          <a:solidFill>
            <a:srgbClr val="F7F9FC"/>
          </a:solidFill>
          <a:ln w="9525">
            <a:solidFill>
              <a:srgbClr val="D3D9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1640" y="3456432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Dependable KPI questions within one subject area. This is the floor the platforms assume — Genie caps a space at 30 tables, Cortex guidance is ~50 columns per model.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625840" y="3401568"/>
            <a:ext cx="3124200" cy="786384"/>
          </a:xfrm>
          <a:prstGeom prst="rect">
            <a:avLst/>
          </a:prstGeom>
          <a:solidFill>
            <a:srgbClr val="FBEFEF"/>
          </a:solidFill>
          <a:ln w="9525">
            <a:solidFill>
              <a:srgbClr val="EBCD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17280" y="3456432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A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metric logic at runtime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 nested KPI logic into metric views and semantic measures instead of generated SQL.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4242816"/>
            <a:ext cx="1691640" cy="786384"/>
          </a:xfrm>
          <a:prstGeom prst="roundRect">
            <a:avLst>
              <a:gd name="adj" fmla="val 5814"/>
            </a:avLst>
          </a:prstGeom>
          <a:solidFill>
            <a:srgbClr val="2F5596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" y="4242816"/>
            <a:ext cx="1545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 modelled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194560" y="4242816"/>
            <a:ext cx="3124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4297680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on top of gold: business names, synonyms, join paths, measures and verified example SQL.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10200" y="4242816"/>
            <a:ext cx="3124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01640" y="4297680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Multi-turn, cross-domain questions. Verified queries return as trusted answers; ambiguity is handled by the model, not the prompt.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625840" y="4242816"/>
            <a:ext cx="3124200" cy="786384"/>
          </a:xfrm>
          <a:prstGeom prst="rect">
            <a:avLst/>
          </a:prstGeom>
          <a:solidFill>
            <a:srgbClr val="FBEFEF"/>
          </a:solidFill>
          <a:ln w="9525">
            <a:solidFill>
              <a:srgbClr val="EBCDC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17280" y="4297680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A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Skewed, inadequate evaluation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~100-question benchmark across simple, intermediate and advanced scenarios, including edge cases.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11480" y="5084064"/>
            <a:ext cx="1691640" cy="786384"/>
          </a:xfrm>
          <a:prstGeom prst="roundRect">
            <a:avLst>
              <a:gd name="adj" fmla="val 5814"/>
            </a:avLst>
          </a:prstGeom>
          <a:solidFill>
            <a:srgbClr val="C0434E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" y="5084064"/>
            <a:ext cx="1545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&amp; self-learning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194560" y="5084064"/>
            <a:ext cx="3124200" cy="786384"/>
          </a:xfrm>
          <a:prstGeom prst="rect">
            <a:avLst/>
          </a:prstGeom>
          <a:solidFill>
            <a:srgbClr val="F7F9FC"/>
          </a:solidFill>
          <a:ln w="9525">
            <a:solidFill>
              <a:srgbClr val="D3D9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0" y="5138928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under change control. Role-based access, usage monitoring and user feedback looped back into instructions.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10200" y="5084064"/>
            <a:ext cx="3124200" cy="786384"/>
          </a:xfrm>
          <a:prstGeom prst="rect">
            <a:avLst/>
          </a:prstGeom>
          <a:solidFill>
            <a:srgbClr val="F7F9FC"/>
          </a:solidFill>
          <a:ln w="9525">
            <a:solidFill>
              <a:srgbClr val="D3D9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01640" y="5138928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self-service across Teams, an enterprise portal and custom apps, with accuracy tracked as a running KPI.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625840" y="5084064"/>
            <a:ext cx="3124200" cy="786384"/>
          </a:xfrm>
          <a:prstGeom prst="rect">
            <a:avLst/>
          </a:prstGeom>
          <a:solidFill>
            <a:srgbClr val="FBEFEF"/>
          </a:solidFill>
          <a:ln w="9525">
            <a:solidFill>
              <a:srgbClr val="EBCDC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17280" y="5138928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A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testing, no drift monitoring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recurring regression on the benchmark suite; refresh examples as business terminology shifts.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11480" y="5980176"/>
            <a:ext cx="11338560" cy="420624"/>
          </a:xfrm>
          <a:prstGeom prst="roundRect">
            <a:avLst>
              <a:gd name="adj" fmla="val 6522"/>
            </a:avLst>
          </a:prstGeom>
          <a:solidFill>
            <a:srgbClr val="1F3864"/>
          </a:solidFill>
          <a:ln/>
        </p:spPr>
      </p:sp>
      <p:sp>
        <p:nvSpPr>
          <p:cNvPr id="55" name="Text 53"/>
          <p:cNvSpPr/>
          <p:nvPr/>
        </p:nvSpPr>
        <p:spPr>
          <a:xfrm>
            <a:off x="557784" y="5980176"/>
            <a:ext cx="11045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B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BI does not create data maturity — it exposes it. Scope the pilot at the level the data has actually reached, and treat the five pitfalls as gates to clear in sequence.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949440" y="65653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ExlService Holdings, Inc. All rights reserved.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04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2026-08-03T09:45:18Z</dcterms:created>
  <dcterms:modified xsi:type="dcterms:W3CDTF">2026-08-03T09:45:18Z</dcterms:modified>
</cp:coreProperties>
</file>