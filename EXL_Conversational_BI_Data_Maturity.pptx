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Narrative: conversational BI platforms are only as good as the semantic foundation beneath them. L1-L2 produce fluent but unreconciled answers. L3 (certified gold products) is the practical floor - both Cortex Analyst and Genie assume a small, curated set of tables/columns. L4 adds the semantic model; L5 adds evaluation, monitoring and governance so accuracy holds as data and terminology change. Each of the five pitfalls from the prior slide maps to one gate in this climb.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Relevant EXL Domain &amp; Technical Capabilities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11480" y="512064"/>
            <a:ext cx="384048" cy="384048"/>
          </a:xfrm>
          <a:prstGeom prst="rect">
            <a:avLst/>
          </a:prstGeom>
          <a:solidFill>
            <a:srgbClr val="C0434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12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11247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04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maturity decides how far conversational BI can actually go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Analyst, Databricks Genie and similar tools generate answers from the semantic foundation you hand them — every maturity gate is where one of the known pitfalls surfaces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883664"/>
            <a:ext cx="2165299" cy="256032"/>
          </a:xfrm>
          <a:prstGeom prst="roundRect">
            <a:avLst>
              <a:gd name="adj" fmla="val 14286"/>
            </a:avLst>
          </a:prstGeom>
          <a:solidFill>
            <a:srgbClr val="C5CFD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883664"/>
            <a:ext cx="2165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</a:t>
            </a:r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4795" y="1764792"/>
            <a:ext cx="2165299" cy="374904"/>
          </a:xfrm>
          <a:prstGeom prst="roundRect">
            <a:avLst>
              <a:gd name="adj" fmla="val 9756"/>
            </a:avLst>
          </a:prstGeom>
          <a:solidFill>
            <a:srgbClr val="9CB2D2"/>
          </a:solidFill>
          <a:ln/>
        </p:spPr>
      </p:sp>
      <p:sp>
        <p:nvSpPr>
          <p:cNvPr id="10" name="Text 8"/>
          <p:cNvSpPr/>
          <p:nvPr/>
        </p:nvSpPr>
        <p:spPr>
          <a:xfrm>
            <a:off x="2704795" y="1764792"/>
            <a:ext cx="2165299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</a:t>
            </a:r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98110" y="1636776"/>
            <a:ext cx="2165299" cy="502920"/>
          </a:xfrm>
          <a:prstGeom prst="roundRect">
            <a:avLst>
              <a:gd name="adj" fmla="val 7273"/>
            </a:avLst>
          </a:prstGeom>
          <a:solidFill>
            <a:srgbClr val="4E7AB5"/>
          </a:solidFill>
          <a:ln/>
        </p:spPr>
      </p:sp>
      <p:sp>
        <p:nvSpPr>
          <p:cNvPr id="12" name="Text 10"/>
          <p:cNvSpPr/>
          <p:nvPr/>
        </p:nvSpPr>
        <p:spPr>
          <a:xfrm>
            <a:off x="4998110" y="1636776"/>
            <a:ext cx="21652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gold products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91426" y="1517904"/>
            <a:ext cx="2165299" cy="621792"/>
          </a:xfrm>
          <a:prstGeom prst="roundRect">
            <a:avLst>
              <a:gd name="adj" fmla="val 5882"/>
            </a:avLst>
          </a:prstGeom>
          <a:solidFill>
            <a:srgbClr val="27427A"/>
          </a:solidFill>
          <a:ln/>
        </p:spPr>
      </p:sp>
      <p:sp>
        <p:nvSpPr>
          <p:cNvPr id="14" name="Text 12"/>
          <p:cNvSpPr/>
          <p:nvPr/>
        </p:nvSpPr>
        <p:spPr>
          <a:xfrm>
            <a:off x="7291426" y="1517904"/>
            <a:ext cx="21652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modelled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84741" y="1389888"/>
            <a:ext cx="2165299" cy="749808"/>
          </a:xfrm>
          <a:prstGeom prst="roundRect">
            <a:avLst>
              <a:gd name="adj" fmla="val 4878"/>
            </a:avLst>
          </a:prstGeom>
          <a:solidFill>
            <a:srgbClr val="C0434E"/>
          </a:solidFill>
          <a:ln/>
        </p:spPr>
      </p:sp>
      <p:sp>
        <p:nvSpPr>
          <p:cNvPr id="16" name="Text 14"/>
          <p:cNvSpPr/>
          <p:nvPr/>
        </p:nvSpPr>
        <p:spPr>
          <a:xfrm>
            <a:off x="9584741" y="1389888"/>
            <a:ext cx="21652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self-learning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131673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L3 the model is guessing: pilots sound fluent, but the numbers don't reconcile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231136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FOUNDATION LOOKS LIKE AT THIS STAGE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450592"/>
            <a:ext cx="2165299" cy="914400"/>
          </a:xfrm>
          <a:prstGeom prst="roundRect">
            <a:avLst>
              <a:gd name="adj" fmla="val 3000"/>
            </a:avLst>
          </a:prstGeom>
          <a:solidFill>
            <a:srgbClr val="EDF2F9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14600"/>
            <a:ext cx="19824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extracts and report-level logic. Several tables answer the same question differently; no single owner for a KPI.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04795" y="2450592"/>
            <a:ext cx="2165299" cy="914400"/>
          </a:xfrm>
          <a:prstGeom prst="roundRect">
            <a:avLst>
              <a:gd name="adj" fmla="val 3000"/>
            </a:avLst>
          </a:prstGeom>
          <a:solidFill>
            <a:srgbClr val="EDF2F9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96235" y="2514600"/>
            <a:ext cx="19824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ingested and conformed, duplicates resolved. Column names are still technical, with no business context attached.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98110" y="2450592"/>
            <a:ext cx="2165299" cy="914400"/>
          </a:xfrm>
          <a:prstGeom prst="roundRect">
            <a:avLst>
              <a:gd name="adj" fmla="val 3000"/>
            </a:avLst>
          </a:prstGeom>
          <a:solidFill>
            <a:srgbClr val="EDF2F9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9550" y="2514600"/>
            <a:ext cx="19824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gold data products with approved KPI rules, flattened joins, ownership, lineage and quality checks.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91426" y="2450592"/>
            <a:ext cx="2165299" cy="914400"/>
          </a:xfrm>
          <a:prstGeom prst="roundRect">
            <a:avLst>
              <a:gd name="adj" fmla="val 3000"/>
            </a:avLst>
          </a:prstGeom>
          <a:solidFill>
            <a:srgbClr val="EDF2F9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2866" y="2514600"/>
            <a:ext cx="19824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on top of gold: business names, synonyms, join paths, measures and verified example SQL.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584741" y="2450592"/>
            <a:ext cx="2165299" cy="914400"/>
          </a:xfrm>
          <a:prstGeom prst="roundRect">
            <a:avLst>
              <a:gd name="adj" fmla="val 3000"/>
            </a:avLst>
          </a:prstGeom>
          <a:solidFill>
            <a:srgbClr val="EDF2F9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76181" y="2514600"/>
            <a:ext cx="19824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under change control. Role-based access, usage monitoring and user feedback looped back into instructions.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456432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CONVERSATIONAL BI CAN REALISTICALLY DELIVER ON THAT FOUNDATION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675888"/>
            <a:ext cx="2165299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39896"/>
            <a:ext cx="198241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Single-table lookups only. The same question asked twice returns two different numbers — trust is lost in week one.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04795" y="3675888"/>
            <a:ext cx="2165299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96235" y="3739896"/>
            <a:ext cx="198241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counts and sums inside one domain. Business phrasing misfires: “top customers” resolves to “accounts”.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98110" y="3675888"/>
            <a:ext cx="2165299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9550" y="3739896"/>
            <a:ext cx="198241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Dependable KPI questions within one subject area. This is the floor the platforms assume — Genie caps a space at 30 tables, Cortex guidance is ~50 columns per model.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91426" y="3675888"/>
            <a:ext cx="2165299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2866" y="3739896"/>
            <a:ext cx="198241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Multi-turn, cross-domain questions. Verified / example queries return as trusted answers; ambiguity is handled by the model, not by the prompt.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584741" y="3675888"/>
            <a:ext cx="2165299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3D9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76181" y="3739896"/>
            <a:ext cx="198241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self-service across Teams, an enterprise portal and custom apps, with accuracy tracked as a running KPI.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4736592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PITFALL THAT STALLS THE CLIMB — AND HOW TO OVERCOME IT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956048"/>
            <a:ext cx="2165299" cy="1024128"/>
          </a:xfrm>
          <a:prstGeom prst="roundRect">
            <a:avLst>
              <a:gd name="adj" fmla="val 2679"/>
            </a:avLst>
          </a:prstGeom>
          <a:solidFill>
            <a:srgbClr val="FBEFEF"/>
          </a:solidFill>
          <a:ln w="9525">
            <a:solidFill>
              <a:srgbClr val="EBCDC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020056"/>
            <a:ext cx="19824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Un-rationalized data products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into business-centric certified tables; one owner and one definition per KPI.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04795" y="4956048"/>
            <a:ext cx="2165299" cy="1024128"/>
          </a:xfrm>
          <a:prstGeom prst="roundRect">
            <a:avLst>
              <a:gd name="adj" fmla="val 2679"/>
            </a:avLst>
          </a:prstGeom>
          <a:solidFill>
            <a:srgbClr val="FBEFEF"/>
          </a:solidFill>
          <a:ln w="9525">
            <a:solidFill>
              <a:srgbClr val="EBCDC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96235" y="5020056"/>
            <a:ext cx="19824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business metadata &amp; context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business-friendly names, descriptions, synonyms and allowed values in the catalog.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98110" y="4956048"/>
            <a:ext cx="2165299" cy="1024128"/>
          </a:xfrm>
          <a:prstGeom prst="roundRect">
            <a:avLst>
              <a:gd name="adj" fmla="val 2679"/>
            </a:avLst>
          </a:prstGeom>
          <a:solidFill>
            <a:srgbClr val="FBEFEF"/>
          </a:solidFill>
          <a:ln w="9525">
            <a:solidFill>
              <a:srgbClr val="EBCDC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89550" y="5020056"/>
            <a:ext cx="19824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metric logic at runtime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nested KPI logic into metric views and semantic measures instead of generated SQL.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291426" y="4956048"/>
            <a:ext cx="2165299" cy="1024128"/>
          </a:xfrm>
          <a:prstGeom prst="roundRect">
            <a:avLst>
              <a:gd name="adj" fmla="val 2679"/>
            </a:avLst>
          </a:prstGeom>
          <a:solidFill>
            <a:srgbClr val="FBEFEF"/>
          </a:solidFill>
          <a:ln w="9525">
            <a:solidFill>
              <a:srgbClr val="EBCDC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82866" y="5020056"/>
            <a:ext cx="19824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Skewed, inadequate evaluation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~100-question benchmark across simple, intermediate and advanced scenarios, including edge cases.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584741" y="4956048"/>
            <a:ext cx="2165299" cy="1024128"/>
          </a:xfrm>
          <a:prstGeom prst="roundRect">
            <a:avLst>
              <a:gd name="adj" fmla="val 2679"/>
            </a:avLst>
          </a:prstGeom>
          <a:solidFill>
            <a:srgbClr val="FBEFEF"/>
          </a:solidFill>
          <a:ln w="9525">
            <a:solidFill>
              <a:srgbClr val="EBCDC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76181" y="5020056"/>
            <a:ext cx="19824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A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testing, no drift monitoring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recurring regression on the benchmark suite; refresh examples as business terminology shifts.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11480" y="6089904"/>
            <a:ext cx="11338560" cy="4572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/>
        </p:spPr>
      </p:sp>
      <p:sp>
        <p:nvSpPr>
          <p:cNvPr id="52" name="Text 50"/>
          <p:cNvSpPr/>
          <p:nvPr/>
        </p:nvSpPr>
        <p:spPr>
          <a:xfrm>
            <a:off x="557784" y="6089904"/>
            <a:ext cx="11045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B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BI does not create data maturity — it exposes it. Scope the pilot at the maturity level the data has actually reached, and treat the five pitfalls as the sequence of gates to clear, not a checklist to run once.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949440" y="65836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881360" y="65288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4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2026-08-03T09:26:41Z</dcterms:created>
  <dcterms:modified xsi:type="dcterms:W3CDTF">2026-08-03T09:26:41Z</dcterms:modified>
</cp:coreProperties>
</file>