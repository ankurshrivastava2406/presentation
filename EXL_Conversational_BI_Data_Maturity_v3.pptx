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Ceiling chart. X axis is data maturity, the shaded staircase is the class of question conversational BI answers reliably at that level. The pink area above the line is what users will ask anyway - fluent answers, unreconcilable numbers. The numbered red markers sit on each riser: those are the five pitfalls, each one a gate that must be cleared before the ceiling rises. L3 is the practical floor because both Cortex Analyst and Genie assume a small curated set of tables and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19456"/>
            <a:ext cx="8229600" cy="219456"/>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Deep-Dive Into Relevant EXL Domain &amp; Technical Capabilities</a:t>
            </a:r>
            <a:endParaRPr lang="en-US" sz="1200" dirty="0"/>
          </a:p>
        </p:txBody>
      </p:sp>
      <p:sp>
        <p:nvSpPr>
          <p:cNvPr id="3" name="Shape 1"/>
          <p:cNvSpPr/>
          <p:nvPr/>
        </p:nvSpPr>
        <p:spPr>
          <a:xfrm>
            <a:off x="411480" y="512064"/>
            <a:ext cx="384048" cy="384048"/>
          </a:xfrm>
          <a:prstGeom prst="rect">
            <a:avLst/>
          </a:prstGeom>
          <a:solidFill>
            <a:srgbClr val="C0434E"/>
          </a:solidFill>
          <a:ln/>
        </p:spPr>
      </p:sp>
      <p:sp>
        <p:nvSpPr>
          <p:cNvPr id="4" name="Text 2"/>
          <p:cNvSpPr/>
          <p:nvPr/>
        </p:nvSpPr>
        <p:spPr>
          <a:xfrm>
            <a:off x="411480" y="5120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B.3</a:t>
            </a:r>
            <a:endParaRPr lang="en-US" sz="1200" dirty="0"/>
          </a:p>
        </p:txBody>
      </p:sp>
      <p:sp>
        <p:nvSpPr>
          <p:cNvPr id="5" name="Text 3"/>
          <p:cNvSpPr/>
          <p:nvPr/>
        </p:nvSpPr>
        <p:spPr>
          <a:xfrm>
            <a:off x="914400" y="457200"/>
            <a:ext cx="11247120" cy="493776"/>
          </a:xfrm>
          <a:prstGeom prst="rect">
            <a:avLst/>
          </a:prstGeom>
          <a:noFill/>
          <a:ln/>
        </p:spPr>
        <p:txBody>
          <a:bodyPr wrap="square" lIns="0" tIns="0" rIns="0" bIns="0" rtlCol="0" anchor="ctr"/>
          <a:lstStyle/>
          <a:p>
            <a:pPr indent="0" marL="0">
              <a:buNone/>
            </a:pPr>
            <a:r>
              <a:rPr lang="en-US" sz="2700" dirty="0">
                <a:solidFill>
                  <a:srgbClr val="C0434E"/>
                </a:solidFill>
                <a:latin typeface="Calibri" pitchFamily="34" charset="0"/>
                <a:ea typeface="Calibri" pitchFamily="34" charset="-122"/>
                <a:cs typeface="Calibri" pitchFamily="34" charset="-120"/>
              </a:rPr>
              <a:t>Data maturity sets the ceiling on conversational BI</a:t>
            </a:r>
            <a:endParaRPr lang="en-US" sz="2700" dirty="0"/>
          </a:p>
        </p:txBody>
      </p:sp>
      <p:sp>
        <p:nvSpPr>
          <p:cNvPr id="6" name="Text 4"/>
          <p:cNvSpPr/>
          <p:nvPr/>
        </p:nvSpPr>
        <p:spPr>
          <a:xfrm>
            <a:off x="411480" y="969264"/>
            <a:ext cx="11338560" cy="256032"/>
          </a:xfrm>
          <a:prstGeom prst="rect">
            <a:avLst/>
          </a:prstGeom>
          <a:noFill/>
          <a:ln/>
        </p:spPr>
        <p:txBody>
          <a:bodyPr wrap="square" lIns="0" tIns="0" rIns="0" bIns="0" rtlCol="0" anchor="ctr"/>
          <a:lstStyle/>
          <a:p>
            <a:pPr indent="0" marL="0">
              <a:buNone/>
            </a:pPr>
            <a:r>
              <a:rPr lang="en-US" sz="1150" dirty="0">
                <a:solidFill>
                  <a:srgbClr val="404040"/>
                </a:solidFill>
                <a:latin typeface="Calibri" pitchFamily="34" charset="0"/>
                <a:ea typeface="Calibri" pitchFamily="34" charset="-122"/>
                <a:cs typeface="Calibri" pitchFamily="34" charset="-120"/>
              </a:rPr>
              <a:t>The shaded area is what Cortex Analyst or Genie can answer reliably at each level of data maturity — the line only rises when a gate is cleared</a:t>
            </a:r>
            <a:endParaRPr lang="en-US" sz="1150" dirty="0"/>
          </a:p>
        </p:txBody>
      </p:sp>
      <p:sp>
        <p:nvSpPr>
          <p:cNvPr id="7" name="Shape 5"/>
          <p:cNvSpPr/>
          <p:nvPr/>
        </p:nvSpPr>
        <p:spPr>
          <a:xfrm>
            <a:off x="822960" y="1371600"/>
            <a:ext cx="10698480" cy="3383280"/>
          </a:xfrm>
          <a:prstGeom prst="rect">
            <a:avLst/>
          </a:prstGeom>
          <a:solidFill>
            <a:srgbClr val="FCF2F2"/>
          </a:solidFill>
          <a:ln w="6350">
            <a:solidFill>
              <a:srgbClr val="FCF2F2"/>
            </a:solidFill>
            <a:prstDash val="solid"/>
          </a:ln>
        </p:spPr>
      </p:sp>
      <p:sp>
        <p:nvSpPr>
          <p:cNvPr id="8" name="Text 6"/>
          <p:cNvSpPr/>
          <p:nvPr/>
        </p:nvSpPr>
        <p:spPr>
          <a:xfrm>
            <a:off x="987552" y="1499616"/>
            <a:ext cx="4114800" cy="475488"/>
          </a:xfrm>
          <a:prstGeom prst="rect">
            <a:avLst/>
          </a:prstGeom>
          <a:noFill/>
          <a:ln/>
        </p:spPr>
        <p:txBody>
          <a:bodyPr wrap="square" lIns="0" tIns="0" rIns="0" bIns="0" rtlCol="0" anchor="t"/>
          <a:lstStyle/>
          <a:p>
            <a:pPr indent="0" marL="0">
              <a:buNone/>
            </a:pPr>
            <a:r>
              <a:rPr lang="en-US" sz="1050" b="1" i="1" dirty="0">
                <a:solidFill>
                  <a:srgbClr val="A6323C"/>
                </a:solidFill>
                <a:latin typeface="Calibri" pitchFamily="34" charset="0"/>
                <a:ea typeface="Calibri" pitchFamily="34" charset="-122"/>
                <a:cs typeface="Calibri" pitchFamily="34" charset="-120"/>
              </a:rPr>
              <a:t>Above the ceiling — users ask these anyway. They get a fluent answer and a number nobody can reconcile.</a:t>
            </a:r>
            <a:endParaRPr lang="en-US" sz="1050" dirty="0"/>
          </a:p>
        </p:txBody>
      </p:sp>
      <p:sp>
        <p:nvSpPr>
          <p:cNvPr id="9" name="Shape 7"/>
          <p:cNvSpPr/>
          <p:nvPr/>
        </p:nvSpPr>
        <p:spPr>
          <a:xfrm>
            <a:off x="822960" y="4206240"/>
            <a:ext cx="2139696" cy="548640"/>
          </a:xfrm>
          <a:prstGeom prst="rect">
            <a:avLst/>
          </a:prstGeom>
          <a:solidFill>
            <a:srgbClr val="DCE4F0"/>
          </a:solidFill>
          <a:ln/>
        </p:spPr>
      </p:sp>
      <p:sp>
        <p:nvSpPr>
          <p:cNvPr id="10" name="Shape 8"/>
          <p:cNvSpPr/>
          <p:nvPr/>
        </p:nvSpPr>
        <p:spPr>
          <a:xfrm>
            <a:off x="822960" y="4187952"/>
            <a:ext cx="2139696" cy="41148"/>
          </a:xfrm>
          <a:prstGeom prst="rect">
            <a:avLst/>
          </a:prstGeom>
          <a:solidFill>
            <a:srgbClr val="1F3864"/>
          </a:solidFill>
          <a:ln/>
        </p:spPr>
      </p:sp>
      <p:sp>
        <p:nvSpPr>
          <p:cNvPr id="11" name="Text 9"/>
          <p:cNvSpPr/>
          <p:nvPr/>
        </p:nvSpPr>
        <p:spPr>
          <a:xfrm>
            <a:off x="932688" y="4379976"/>
            <a:ext cx="1920240" cy="301752"/>
          </a:xfrm>
          <a:prstGeom prst="rect">
            <a:avLst/>
          </a:prstGeom>
          <a:noFill/>
          <a:ln/>
        </p:spPr>
        <p:txBody>
          <a:bodyPr wrap="square" lIns="0" tIns="0" rIns="0" bIns="0" rtlCol="0" anchor="t"/>
          <a:lstStyle/>
          <a:p>
            <a:pPr indent="0" marL="0">
              <a:lnSpc>
                <a:spcPct val="95000"/>
              </a:lnSpc>
              <a:buNone/>
            </a:pPr>
            <a:r>
              <a:rPr lang="en-US" sz="850" dirty="0">
                <a:solidFill>
                  <a:srgbClr val="1F3864"/>
                </a:solidFill>
                <a:latin typeface="Calibri" pitchFamily="34" charset="0"/>
                <a:ea typeface="Calibri" pitchFamily="34" charset="-122"/>
                <a:cs typeface="Calibri" pitchFamily="34" charset="-120"/>
              </a:rPr>
              <a:t>Single-table lookups. Ask twice, get two different numbers.</a:t>
            </a:r>
            <a:endParaRPr lang="en-US" sz="850" dirty="0"/>
          </a:p>
        </p:txBody>
      </p:sp>
      <p:sp>
        <p:nvSpPr>
          <p:cNvPr id="12" name="Shape 10"/>
          <p:cNvSpPr/>
          <p:nvPr/>
        </p:nvSpPr>
        <p:spPr>
          <a:xfrm>
            <a:off x="2962656" y="3703320"/>
            <a:ext cx="2139696" cy="1051560"/>
          </a:xfrm>
          <a:prstGeom prst="rect">
            <a:avLst/>
          </a:prstGeom>
          <a:solidFill>
            <a:srgbClr val="C1D1E8"/>
          </a:solidFill>
          <a:ln/>
        </p:spPr>
      </p:sp>
      <p:sp>
        <p:nvSpPr>
          <p:cNvPr id="13" name="Shape 11"/>
          <p:cNvSpPr/>
          <p:nvPr/>
        </p:nvSpPr>
        <p:spPr>
          <a:xfrm>
            <a:off x="2962656" y="3685032"/>
            <a:ext cx="2139696" cy="41148"/>
          </a:xfrm>
          <a:prstGeom prst="rect">
            <a:avLst/>
          </a:prstGeom>
          <a:solidFill>
            <a:srgbClr val="1F3864"/>
          </a:solidFill>
          <a:ln/>
        </p:spPr>
      </p:sp>
      <p:sp>
        <p:nvSpPr>
          <p:cNvPr id="14" name="Text 12"/>
          <p:cNvSpPr/>
          <p:nvPr/>
        </p:nvSpPr>
        <p:spPr>
          <a:xfrm>
            <a:off x="3072384" y="3877056"/>
            <a:ext cx="1920240" cy="713232"/>
          </a:xfrm>
          <a:prstGeom prst="rect">
            <a:avLst/>
          </a:prstGeom>
          <a:noFill/>
          <a:ln/>
        </p:spPr>
        <p:txBody>
          <a:bodyPr wrap="square" lIns="0" tIns="0" rIns="0" bIns="0" rtlCol="0" anchor="t"/>
          <a:lstStyle/>
          <a:p>
            <a:pPr indent="0" marL="0">
              <a:lnSpc>
                <a:spcPct val="95000"/>
              </a:lnSpc>
              <a:buNone/>
            </a:pPr>
            <a:r>
              <a:rPr lang="en-US" sz="850" dirty="0">
                <a:solidFill>
                  <a:srgbClr val="1F3864"/>
                </a:solidFill>
                <a:latin typeface="Calibri" pitchFamily="34" charset="0"/>
                <a:ea typeface="Calibri" pitchFamily="34" charset="-122"/>
                <a:cs typeface="Calibri" pitchFamily="34" charset="-120"/>
              </a:rPr>
              <a:t>Descriptive counts and sums inside one domain; business phrasing still misfires.</a:t>
            </a:r>
            <a:endParaRPr lang="en-US" sz="850" dirty="0"/>
          </a:p>
        </p:txBody>
      </p:sp>
      <p:sp>
        <p:nvSpPr>
          <p:cNvPr id="15" name="Shape 13"/>
          <p:cNvSpPr/>
          <p:nvPr/>
        </p:nvSpPr>
        <p:spPr>
          <a:xfrm>
            <a:off x="5102352" y="3063240"/>
            <a:ext cx="2139696" cy="1691640"/>
          </a:xfrm>
          <a:prstGeom prst="rect">
            <a:avLst/>
          </a:prstGeom>
          <a:solidFill>
            <a:srgbClr val="94B0D8"/>
          </a:solidFill>
          <a:ln/>
        </p:spPr>
      </p:sp>
      <p:sp>
        <p:nvSpPr>
          <p:cNvPr id="16" name="Shape 14"/>
          <p:cNvSpPr/>
          <p:nvPr/>
        </p:nvSpPr>
        <p:spPr>
          <a:xfrm>
            <a:off x="5102352" y="3044952"/>
            <a:ext cx="2139696" cy="41148"/>
          </a:xfrm>
          <a:prstGeom prst="rect">
            <a:avLst/>
          </a:prstGeom>
          <a:solidFill>
            <a:srgbClr val="1F3864"/>
          </a:solidFill>
          <a:ln/>
        </p:spPr>
      </p:sp>
      <p:sp>
        <p:nvSpPr>
          <p:cNvPr id="17" name="Text 15"/>
          <p:cNvSpPr/>
          <p:nvPr/>
        </p:nvSpPr>
        <p:spPr>
          <a:xfrm>
            <a:off x="5212080" y="3236976"/>
            <a:ext cx="1920240" cy="713232"/>
          </a:xfrm>
          <a:prstGeom prst="rect">
            <a:avLst/>
          </a:prstGeom>
          <a:noFill/>
          <a:ln/>
        </p:spPr>
        <p:txBody>
          <a:bodyPr wrap="square" lIns="0" tIns="0" rIns="0" bIns="0" rtlCol="0" anchor="t"/>
          <a:lstStyle/>
          <a:p>
            <a:pPr indent="0" marL="0">
              <a:lnSpc>
                <a:spcPct val="95000"/>
              </a:lnSpc>
              <a:buNone/>
            </a:pPr>
            <a:r>
              <a:rPr lang="en-US" sz="850" dirty="0">
                <a:solidFill>
                  <a:srgbClr val="1F3864"/>
                </a:solidFill>
                <a:latin typeface="Calibri" pitchFamily="34" charset="0"/>
                <a:ea typeface="Calibri" pitchFamily="34" charset="-122"/>
                <a:cs typeface="Calibri" pitchFamily="34" charset="-120"/>
              </a:rPr>
              <a:t>Trusted KPI questions within one subject area — the floor both platforms assume (Genie ≤ 30 tables, Cortex ~50 columns).</a:t>
            </a:r>
            <a:endParaRPr lang="en-US" sz="850" dirty="0"/>
          </a:p>
        </p:txBody>
      </p:sp>
      <p:sp>
        <p:nvSpPr>
          <p:cNvPr id="18" name="Shape 16"/>
          <p:cNvSpPr/>
          <p:nvPr/>
        </p:nvSpPr>
        <p:spPr>
          <a:xfrm>
            <a:off x="7242048" y="2331720"/>
            <a:ext cx="2139696" cy="2423160"/>
          </a:xfrm>
          <a:prstGeom prst="rect">
            <a:avLst/>
          </a:prstGeom>
          <a:solidFill>
            <a:srgbClr val="4E7AB5"/>
          </a:solidFill>
          <a:ln/>
        </p:spPr>
      </p:sp>
      <p:sp>
        <p:nvSpPr>
          <p:cNvPr id="19" name="Shape 17"/>
          <p:cNvSpPr/>
          <p:nvPr/>
        </p:nvSpPr>
        <p:spPr>
          <a:xfrm>
            <a:off x="7242048" y="2313432"/>
            <a:ext cx="2139696" cy="41148"/>
          </a:xfrm>
          <a:prstGeom prst="rect">
            <a:avLst/>
          </a:prstGeom>
          <a:solidFill>
            <a:srgbClr val="1F3864"/>
          </a:solidFill>
          <a:ln/>
        </p:spPr>
      </p:sp>
      <p:sp>
        <p:nvSpPr>
          <p:cNvPr id="20" name="Text 18"/>
          <p:cNvSpPr/>
          <p:nvPr/>
        </p:nvSpPr>
        <p:spPr>
          <a:xfrm>
            <a:off x="7351776" y="2505456"/>
            <a:ext cx="1920240" cy="713232"/>
          </a:xfrm>
          <a:prstGeom prst="rect">
            <a:avLst/>
          </a:prstGeom>
          <a:noFill/>
          <a:ln/>
        </p:spPr>
        <p:txBody>
          <a:bodyPr wrap="square" lIns="0" tIns="0" rIns="0" bIns="0" rtlCol="0" anchor="t"/>
          <a:lstStyle/>
          <a:p>
            <a:pPr indent="0" marL="0">
              <a:lnSpc>
                <a:spcPct val="95000"/>
              </a:lnSpc>
              <a:buNone/>
            </a:pPr>
            <a:r>
              <a:rPr lang="en-US" sz="850" dirty="0">
                <a:solidFill>
                  <a:srgbClr val="FFFFFF"/>
                </a:solidFill>
                <a:latin typeface="Calibri" pitchFamily="34" charset="0"/>
                <a:ea typeface="Calibri" pitchFamily="34" charset="-122"/>
                <a:cs typeface="Calibri" pitchFamily="34" charset="-120"/>
              </a:rPr>
              <a:t>Cross-domain, multi-turn questions; verified queries returned as trusted answers.</a:t>
            </a:r>
            <a:endParaRPr lang="en-US" sz="850" dirty="0"/>
          </a:p>
        </p:txBody>
      </p:sp>
      <p:sp>
        <p:nvSpPr>
          <p:cNvPr id="21" name="Shape 19"/>
          <p:cNvSpPr/>
          <p:nvPr/>
        </p:nvSpPr>
        <p:spPr>
          <a:xfrm>
            <a:off x="9381744" y="1554480"/>
            <a:ext cx="2139696" cy="3200400"/>
          </a:xfrm>
          <a:prstGeom prst="rect">
            <a:avLst/>
          </a:prstGeom>
          <a:solidFill>
            <a:srgbClr val="2F5596"/>
          </a:solidFill>
          <a:ln/>
        </p:spPr>
      </p:sp>
      <p:sp>
        <p:nvSpPr>
          <p:cNvPr id="22" name="Shape 20"/>
          <p:cNvSpPr/>
          <p:nvPr/>
        </p:nvSpPr>
        <p:spPr>
          <a:xfrm>
            <a:off x="9381744" y="1536192"/>
            <a:ext cx="2139696" cy="41148"/>
          </a:xfrm>
          <a:prstGeom prst="rect">
            <a:avLst/>
          </a:prstGeom>
          <a:solidFill>
            <a:srgbClr val="1F3864"/>
          </a:solidFill>
          <a:ln/>
        </p:spPr>
      </p:sp>
      <p:sp>
        <p:nvSpPr>
          <p:cNvPr id="23" name="Text 21"/>
          <p:cNvSpPr/>
          <p:nvPr/>
        </p:nvSpPr>
        <p:spPr>
          <a:xfrm>
            <a:off x="9491472" y="1728216"/>
            <a:ext cx="1920240" cy="713232"/>
          </a:xfrm>
          <a:prstGeom prst="rect">
            <a:avLst/>
          </a:prstGeom>
          <a:noFill/>
          <a:ln/>
        </p:spPr>
        <p:txBody>
          <a:bodyPr wrap="square" lIns="0" tIns="0" rIns="0" bIns="0" rtlCol="0" anchor="t"/>
          <a:lstStyle/>
          <a:p>
            <a:pPr indent="0" marL="0">
              <a:lnSpc>
                <a:spcPct val="95000"/>
              </a:lnSpc>
              <a:buNone/>
            </a:pPr>
            <a:r>
              <a:rPr lang="en-US" sz="850" dirty="0">
                <a:solidFill>
                  <a:srgbClr val="FFFFFF"/>
                </a:solidFill>
                <a:latin typeface="Calibri" pitchFamily="34" charset="0"/>
                <a:ea typeface="Calibri" pitchFamily="34" charset="-122"/>
                <a:cs typeface="Calibri" pitchFamily="34" charset="-120"/>
              </a:rPr>
              <a:t>Enterprise-wide self-service across Teams, portal and custom apps, with accuracy tracked as a running KPI.</a:t>
            </a:r>
            <a:endParaRPr lang="en-US" sz="850" dirty="0"/>
          </a:p>
        </p:txBody>
      </p:sp>
      <p:sp>
        <p:nvSpPr>
          <p:cNvPr id="24" name="Shape 22"/>
          <p:cNvSpPr/>
          <p:nvPr/>
        </p:nvSpPr>
        <p:spPr>
          <a:xfrm>
            <a:off x="822960" y="4754880"/>
            <a:ext cx="10698480" cy="18288"/>
          </a:xfrm>
          <a:prstGeom prst="rect">
            <a:avLst/>
          </a:prstGeom>
          <a:solidFill>
            <a:srgbClr val="9AA3B2"/>
          </a:solidFill>
          <a:ln/>
        </p:spPr>
      </p:sp>
      <p:sp>
        <p:nvSpPr>
          <p:cNvPr id="25" name="Shape 23"/>
          <p:cNvSpPr/>
          <p:nvPr/>
        </p:nvSpPr>
        <p:spPr>
          <a:xfrm>
            <a:off x="2825496" y="4069080"/>
            <a:ext cx="274320" cy="274320"/>
          </a:xfrm>
          <a:prstGeom prst="ellipse">
            <a:avLst/>
          </a:prstGeom>
          <a:solidFill>
            <a:srgbClr val="C0434E"/>
          </a:solidFill>
          <a:ln w="15875">
            <a:solidFill>
              <a:srgbClr val="FFFFFF"/>
            </a:solidFill>
            <a:prstDash val="solid"/>
          </a:ln>
        </p:spPr>
      </p:sp>
      <p:sp>
        <p:nvSpPr>
          <p:cNvPr id="26" name="Text 24"/>
          <p:cNvSpPr/>
          <p:nvPr/>
        </p:nvSpPr>
        <p:spPr>
          <a:xfrm>
            <a:off x="2825496" y="4069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7" name="Shape 25"/>
          <p:cNvSpPr/>
          <p:nvPr/>
        </p:nvSpPr>
        <p:spPr>
          <a:xfrm>
            <a:off x="4965192" y="3566160"/>
            <a:ext cx="274320" cy="274320"/>
          </a:xfrm>
          <a:prstGeom prst="ellipse">
            <a:avLst/>
          </a:prstGeom>
          <a:solidFill>
            <a:srgbClr val="C0434E"/>
          </a:solidFill>
          <a:ln w="15875">
            <a:solidFill>
              <a:srgbClr val="FFFFFF"/>
            </a:solidFill>
            <a:prstDash val="solid"/>
          </a:ln>
        </p:spPr>
      </p:sp>
      <p:sp>
        <p:nvSpPr>
          <p:cNvPr id="28" name="Text 26"/>
          <p:cNvSpPr/>
          <p:nvPr/>
        </p:nvSpPr>
        <p:spPr>
          <a:xfrm>
            <a:off x="4965192" y="35661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Shape 27"/>
          <p:cNvSpPr/>
          <p:nvPr/>
        </p:nvSpPr>
        <p:spPr>
          <a:xfrm>
            <a:off x="7104888" y="2926080"/>
            <a:ext cx="274320" cy="274320"/>
          </a:xfrm>
          <a:prstGeom prst="ellipse">
            <a:avLst/>
          </a:prstGeom>
          <a:solidFill>
            <a:srgbClr val="C0434E"/>
          </a:solidFill>
          <a:ln w="15875">
            <a:solidFill>
              <a:srgbClr val="FFFFFF"/>
            </a:solidFill>
            <a:prstDash val="solid"/>
          </a:ln>
        </p:spPr>
      </p:sp>
      <p:sp>
        <p:nvSpPr>
          <p:cNvPr id="30" name="Text 28"/>
          <p:cNvSpPr/>
          <p:nvPr/>
        </p:nvSpPr>
        <p:spPr>
          <a:xfrm>
            <a:off x="7104888"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Shape 29"/>
          <p:cNvSpPr/>
          <p:nvPr/>
        </p:nvSpPr>
        <p:spPr>
          <a:xfrm>
            <a:off x="9244584" y="2194560"/>
            <a:ext cx="274320" cy="274320"/>
          </a:xfrm>
          <a:prstGeom prst="ellipse">
            <a:avLst/>
          </a:prstGeom>
          <a:solidFill>
            <a:srgbClr val="C0434E"/>
          </a:solidFill>
          <a:ln w="15875">
            <a:solidFill>
              <a:srgbClr val="FFFFFF"/>
            </a:solidFill>
            <a:prstDash val="solid"/>
          </a:ln>
        </p:spPr>
      </p:sp>
      <p:sp>
        <p:nvSpPr>
          <p:cNvPr id="32" name="Text 30"/>
          <p:cNvSpPr/>
          <p:nvPr/>
        </p:nvSpPr>
        <p:spPr>
          <a:xfrm>
            <a:off x="9244584" y="21945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3" name="Shape 31"/>
          <p:cNvSpPr/>
          <p:nvPr/>
        </p:nvSpPr>
        <p:spPr>
          <a:xfrm>
            <a:off x="11384280" y="1417320"/>
            <a:ext cx="274320" cy="274320"/>
          </a:xfrm>
          <a:prstGeom prst="ellipse">
            <a:avLst/>
          </a:prstGeom>
          <a:solidFill>
            <a:srgbClr val="C0434E"/>
          </a:solidFill>
          <a:ln w="15875">
            <a:solidFill>
              <a:srgbClr val="FFFFFF"/>
            </a:solidFill>
            <a:prstDash val="solid"/>
          </a:ln>
        </p:spPr>
      </p:sp>
      <p:sp>
        <p:nvSpPr>
          <p:cNvPr id="34" name="Text 32"/>
          <p:cNvSpPr/>
          <p:nvPr/>
        </p:nvSpPr>
        <p:spPr>
          <a:xfrm>
            <a:off x="11384280"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822960" y="4809744"/>
            <a:ext cx="2139696" cy="237744"/>
          </a:xfrm>
          <a:prstGeom prst="rect">
            <a:avLst/>
          </a:prstGeom>
          <a:noFill/>
          <a:ln/>
        </p:spPr>
        <p:txBody>
          <a:bodyPr wrap="square" lIns="0" tIns="0" rIns="0" bIns="0" rtlCol="0" anchor="ctr"/>
          <a:lstStyle/>
          <a:p>
            <a:pPr algn="ctr" indent="0" marL="0">
              <a:buNone/>
            </a:pPr>
            <a:r>
              <a:rPr lang="en-US" sz="1000" b="1" dirty="0">
                <a:solidFill>
                  <a:srgbClr val="1F3864"/>
                </a:solidFill>
                <a:latin typeface="Calibri" pitchFamily="34" charset="0"/>
                <a:ea typeface="Calibri" pitchFamily="34" charset="-122"/>
                <a:cs typeface="Calibri" pitchFamily="34" charset="-120"/>
              </a:rPr>
              <a:t>L1  Fragmented</a:t>
            </a:r>
            <a:endParaRPr lang="en-US" sz="1000" dirty="0"/>
          </a:p>
        </p:txBody>
      </p:sp>
      <p:sp>
        <p:nvSpPr>
          <p:cNvPr id="36" name="Text 34"/>
          <p:cNvSpPr/>
          <p:nvPr/>
        </p:nvSpPr>
        <p:spPr>
          <a:xfrm>
            <a:off x="2962656" y="4809744"/>
            <a:ext cx="2139696" cy="237744"/>
          </a:xfrm>
          <a:prstGeom prst="rect">
            <a:avLst/>
          </a:prstGeom>
          <a:noFill/>
          <a:ln/>
        </p:spPr>
        <p:txBody>
          <a:bodyPr wrap="square" lIns="0" tIns="0" rIns="0" bIns="0" rtlCol="0" anchor="ctr"/>
          <a:lstStyle/>
          <a:p>
            <a:pPr algn="ctr" indent="0" marL="0">
              <a:buNone/>
            </a:pPr>
            <a:r>
              <a:rPr lang="en-US" sz="1000" b="1" dirty="0">
                <a:solidFill>
                  <a:srgbClr val="1F3864"/>
                </a:solidFill>
                <a:latin typeface="Calibri" pitchFamily="34" charset="0"/>
                <a:ea typeface="Calibri" pitchFamily="34" charset="-122"/>
                <a:cs typeface="Calibri" pitchFamily="34" charset="-120"/>
              </a:rPr>
              <a:t>L2  Consolidated</a:t>
            </a:r>
            <a:endParaRPr lang="en-US" sz="1000" dirty="0"/>
          </a:p>
        </p:txBody>
      </p:sp>
      <p:sp>
        <p:nvSpPr>
          <p:cNvPr id="37" name="Text 35"/>
          <p:cNvSpPr/>
          <p:nvPr/>
        </p:nvSpPr>
        <p:spPr>
          <a:xfrm>
            <a:off x="5102352" y="4809744"/>
            <a:ext cx="2139696" cy="237744"/>
          </a:xfrm>
          <a:prstGeom prst="rect">
            <a:avLst/>
          </a:prstGeom>
          <a:noFill/>
          <a:ln/>
        </p:spPr>
        <p:txBody>
          <a:bodyPr wrap="square" lIns="0" tIns="0" rIns="0" bIns="0" rtlCol="0" anchor="ctr"/>
          <a:lstStyle/>
          <a:p>
            <a:pPr algn="ctr" indent="0" marL="0">
              <a:buNone/>
            </a:pPr>
            <a:r>
              <a:rPr lang="en-US" sz="1000" b="1" dirty="0">
                <a:solidFill>
                  <a:srgbClr val="1F3864"/>
                </a:solidFill>
                <a:latin typeface="Calibri" pitchFamily="34" charset="0"/>
                <a:ea typeface="Calibri" pitchFamily="34" charset="-122"/>
                <a:cs typeface="Calibri" pitchFamily="34" charset="-120"/>
              </a:rPr>
              <a:t>L3  Curated gold products</a:t>
            </a:r>
            <a:endParaRPr lang="en-US" sz="1000" dirty="0"/>
          </a:p>
        </p:txBody>
      </p:sp>
      <p:sp>
        <p:nvSpPr>
          <p:cNvPr id="38" name="Text 36"/>
          <p:cNvSpPr/>
          <p:nvPr/>
        </p:nvSpPr>
        <p:spPr>
          <a:xfrm>
            <a:off x="7242048" y="4809744"/>
            <a:ext cx="2139696" cy="237744"/>
          </a:xfrm>
          <a:prstGeom prst="rect">
            <a:avLst/>
          </a:prstGeom>
          <a:noFill/>
          <a:ln/>
        </p:spPr>
        <p:txBody>
          <a:bodyPr wrap="square" lIns="0" tIns="0" rIns="0" bIns="0" rtlCol="0" anchor="ctr"/>
          <a:lstStyle/>
          <a:p>
            <a:pPr algn="ctr" indent="0" marL="0">
              <a:buNone/>
            </a:pPr>
            <a:r>
              <a:rPr lang="en-US" sz="1000" b="1" dirty="0">
                <a:solidFill>
                  <a:srgbClr val="1F3864"/>
                </a:solidFill>
                <a:latin typeface="Calibri" pitchFamily="34" charset="0"/>
                <a:ea typeface="Calibri" pitchFamily="34" charset="-122"/>
                <a:cs typeface="Calibri" pitchFamily="34" charset="-120"/>
              </a:rPr>
              <a:t>L4  Semantically modelled</a:t>
            </a:r>
            <a:endParaRPr lang="en-US" sz="1000" dirty="0"/>
          </a:p>
        </p:txBody>
      </p:sp>
      <p:sp>
        <p:nvSpPr>
          <p:cNvPr id="39" name="Text 37"/>
          <p:cNvSpPr/>
          <p:nvPr/>
        </p:nvSpPr>
        <p:spPr>
          <a:xfrm>
            <a:off x="9381744" y="4809744"/>
            <a:ext cx="2139696" cy="237744"/>
          </a:xfrm>
          <a:prstGeom prst="rect">
            <a:avLst/>
          </a:prstGeom>
          <a:noFill/>
          <a:ln/>
        </p:spPr>
        <p:txBody>
          <a:bodyPr wrap="square" lIns="0" tIns="0" rIns="0" bIns="0" rtlCol="0" anchor="ctr"/>
          <a:lstStyle/>
          <a:p>
            <a:pPr algn="ctr" indent="0" marL="0">
              <a:buNone/>
            </a:pPr>
            <a:r>
              <a:rPr lang="en-US" sz="1000" b="1" dirty="0">
                <a:solidFill>
                  <a:srgbClr val="1F3864"/>
                </a:solidFill>
                <a:latin typeface="Calibri" pitchFamily="34" charset="0"/>
                <a:ea typeface="Calibri" pitchFamily="34" charset="-122"/>
                <a:cs typeface="Calibri" pitchFamily="34" charset="-120"/>
              </a:rPr>
              <a:t>L5  Governed &amp; self-learning</a:t>
            </a:r>
            <a:endParaRPr lang="en-US" sz="1000" dirty="0"/>
          </a:p>
        </p:txBody>
      </p:sp>
      <p:sp>
        <p:nvSpPr>
          <p:cNvPr id="40" name="Text 38"/>
          <p:cNvSpPr/>
          <p:nvPr/>
        </p:nvSpPr>
        <p:spPr>
          <a:xfrm>
            <a:off x="822960" y="4809744"/>
            <a:ext cx="1463040" cy="237744"/>
          </a:xfrm>
          <a:prstGeom prst="rect">
            <a:avLst/>
          </a:prstGeom>
          <a:noFill/>
          <a:ln/>
        </p:spPr>
        <p:txBody>
          <a:bodyPr wrap="square" lIns="0" tIns="0" rIns="0" bIns="0" rtlCol="0" anchor="ctr"/>
          <a:lstStyle/>
          <a:p>
            <a:pPr algn="l" indent="0" marL="0">
              <a:buNone/>
            </a:pPr>
            <a:r>
              <a:rPr lang="en-US" sz="900" i="1" dirty="0">
                <a:solidFill>
                  <a:srgbClr val="6B7280"/>
                </a:solidFill>
                <a:latin typeface="Calibri" pitchFamily="34" charset="0"/>
                <a:ea typeface="Calibri" pitchFamily="34" charset="-122"/>
                <a:cs typeface="Calibri" pitchFamily="34" charset="-120"/>
              </a:rPr>
              <a:t>Data maturity →</a:t>
            </a:r>
            <a:endParaRPr lang="en-US" sz="900" dirty="0"/>
          </a:p>
        </p:txBody>
      </p:sp>
      <p:sp>
        <p:nvSpPr>
          <p:cNvPr id="41" name="Text 39"/>
          <p:cNvSpPr/>
          <p:nvPr/>
        </p:nvSpPr>
        <p:spPr>
          <a:xfrm>
            <a:off x="411480" y="5138928"/>
            <a:ext cx="11338560" cy="219456"/>
          </a:xfrm>
          <a:prstGeom prst="rect">
            <a:avLst/>
          </a:prstGeom>
          <a:noFill/>
          <a:ln/>
        </p:spPr>
        <p:txBody>
          <a:bodyPr wrap="square" lIns="0" tIns="0" rIns="0" bIns="0" rtlCol="0" anchor="ctr"/>
          <a:lstStyle/>
          <a:p>
            <a:pPr indent="0" marL="0">
              <a:buNone/>
            </a:pPr>
            <a:r>
              <a:rPr lang="en-US" sz="1000" b="1" spc="60" kern="0" dirty="0">
                <a:solidFill>
                  <a:srgbClr val="1F3864"/>
                </a:solidFill>
                <a:latin typeface="Calibri" pitchFamily="34" charset="0"/>
                <a:ea typeface="Calibri" pitchFamily="34" charset="-122"/>
                <a:cs typeface="Calibri" pitchFamily="34" charset="-120"/>
              </a:rPr>
              <a:t>THE GATE AT EACH STEP — CLEAR IT AND THE CEILING RISES</a:t>
            </a:r>
            <a:endParaRPr lang="en-US" sz="1000" dirty="0"/>
          </a:p>
        </p:txBody>
      </p:sp>
      <p:sp>
        <p:nvSpPr>
          <p:cNvPr id="42" name="Shape 40"/>
          <p:cNvSpPr/>
          <p:nvPr/>
        </p:nvSpPr>
        <p:spPr>
          <a:xfrm>
            <a:off x="822960" y="5413248"/>
            <a:ext cx="237744" cy="237744"/>
          </a:xfrm>
          <a:prstGeom prst="ellipse">
            <a:avLst/>
          </a:prstGeom>
          <a:solidFill>
            <a:srgbClr val="C0434E"/>
          </a:solidFill>
          <a:ln/>
        </p:spPr>
      </p:sp>
      <p:sp>
        <p:nvSpPr>
          <p:cNvPr id="43" name="Text 41"/>
          <p:cNvSpPr/>
          <p:nvPr/>
        </p:nvSpPr>
        <p:spPr>
          <a:xfrm>
            <a:off x="822960" y="5413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44" name="Text 42"/>
          <p:cNvSpPr/>
          <p:nvPr/>
        </p:nvSpPr>
        <p:spPr>
          <a:xfrm>
            <a:off x="1143000" y="5394960"/>
            <a:ext cx="1682496" cy="292608"/>
          </a:xfrm>
          <a:prstGeom prst="rect">
            <a:avLst/>
          </a:prstGeom>
          <a:noFill/>
          <a:ln/>
        </p:spPr>
        <p:txBody>
          <a:bodyPr wrap="square" lIns="0" tIns="0" rIns="0" bIns="0" rtlCol="0" anchor="t"/>
          <a:lstStyle/>
          <a:p>
            <a:pPr indent="0" marL="0">
              <a:lnSpc>
                <a:spcPct val="92000"/>
              </a:lnSpc>
              <a:buNone/>
            </a:pPr>
            <a:r>
              <a:rPr lang="en-US" sz="950" b="1" dirty="0">
                <a:solidFill>
                  <a:srgbClr val="A6323C"/>
                </a:solidFill>
                <a:latin typeface="Calibri" pitchFamily="34" charset="0"/>
                <a:ea typeface="Calibri" pitchFamily="34" charset="-122"/>
                <a:cs typeface="Calibri" pitchFamily="34" charset="-120"/>
              </a:rPr>
              <a:t>Un-rationalized data products</a:t>
            </a:r>
            <a:endParaRPr lang="en-US" sz="950" dirty="0"/>
          </a:p>
        </p:txBody>
      </p:sp>
      <p:sp>
        <p:nvSpPr>
          <p:cNvPr id="45" name="Text 43"/>
          <p:cNvSpPr/>
          <p:nvPr/>
        </p:nvSpPr>
        <p:spPr>
          <a:xfrm>
            <a:off x="822960" y="5760720"/>
            <a:ext cx="1975104" cy="530352"/>
          </a:xfrm>
          <a:prstGeom prst="rect">
            <a:avLst/>
          </a:prstGeom>
          <a:noFill/>
          <a:ln/>
        </p:spPr>
        <p:txBody>
          <a:bodyPr wrap="square" lIns="0" tIns="0" rIns="0" bIns="0" rtlCol="0" anchor="t"/>
          <a:lstStyle/>
          <a:p>
            <a:pPr indent="0" marL="0">
              <a:lnSpc>
                <a:spcPct val="95000"/>
              </a:lnSpc>
              <a:buNone/>
            </a:pPr>
            <a:r>
              <a:rPr lang="en-US" sz="850" dirty="0">
                <a:solidFill>
                  <a:srgbClr val="404040"/>
                </a:solidFill>
                <a:latin typeface="Calibri" pitchFamily="34" charset="0"/>
                <a:ea typeface="Calibri" pitchFamily="34" charset="-122"/>
                <a:cs typeface="Calibri" pitchFamily="34" charset="-120"/>
              </a:rPr>
              <a:t>Consolidate into business-centric certified tables; one owner and one definition per KPI.</a:t>
            </a:r>
            <a:endParaRPr lang="en-US" sz="850" dirty="0"/>
          </a:p>
        </p:txBody>
      </p:sp>
      <p:sp>
        <p:nvSpPr>
          <p:cNvPr id="46" name="Shape 44"/>
          <p:cNvSpPr/>
          <p:nvPr/>
        </p:nvSpPr>
        <p:spPr>
          <a:xfrm>
            <a:off x="2962656" y="5413248"/>
            <a:ext cx="237744" cy="237744"/>
          </a:xfrm>
          <a:prstGeom prst="ellipse">
            <a:avLst/>
          </a:prstGeom>
          <a:solidFill>
            <a:srgbClr val="C0434E"/>
          </a:solidFill>
          <a:ln/>
        </p:spPr>
      </p:sp>
      <p:sp>
        <p:nvSpPr>
          <p:cNvPr id="47" name="Text 45"/>
          <p:cNvSpPr/>
          <p:nvPr/>
        </p:nvSpPr>
        <p:spPr>
          <a:xfrm>
            <a:off x="2962656" y="5413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48" name="Text 46"/>
          <p:cNvSpPr/>
          <p:nvPr/>
        </p:nvSpPr>
        <p:spPr>
          <a:xfrm>
            <a:off x="3282696" y="5394960"/>
            <a:ext cx="1682496" cy="292608"/>
          </a:xfrm>
          <a:prstGeom prst="rect">
            <a:avLst/>
          </a:prstGeom>
          <a:noFill/>
          <a:ln/>
        </p:spPr>
        <p:txBody>
          <a:bodyPr wrap="square" lIns="0" tIns="0" rIns="0" bIns="0" rtlCol="0" anchor="t"/>
          <a:lstStyle/>
          <a:p>
            <a:pPr indent="0" marL="0">
              <a:lnSpc>
                <a:spcPct val="92000"/>
              </a:lnSpc>
              <a:buNone/>
            </a:pPr>
            <a:r>
              <a:rPr lang="en-US" sz="950" b="1" dirty="0">
                <a:solidFill>
                  <a:srgbClr val="A6323C"/>
                </a:solidFill>
                <a:latin typeface="Calibri" pitchFamily="34" charset="0"/>
                <a:ea typeface="Calibri" pitchFamily="34" charset="-122"/>
                <a:cs typeface="Calibri" pitchFamily="34" charset="-120"/>
              </a:rPr>
              <a:t>Missing business metadata &amp; context</a:t>
            </a:r>
            <a:endParaRPr lang="en-US" sz="950" dirty="0"/>
          </a:p>
        </p:txBody>
      </p:sp>
      <p:sp>
        <p:nvSpPr>
          <p:cNvPr id="49" name="Text 47"/>
          <p:cNvSpPr/>
          <p:nvPr/>
        </p:nvSpPr>
        <p:spPr>
          <a:xfrm>
            <a:off x="2962656" y="5760720"/>
            <a:ext cx="1975104" cy="530352"/>
          </a:xfrm>
          <a:prstGeom prst="rect">
            <a:avLst/>
          </a:prstGeom>
          <a:noFill/>
          <a:ln/>
        </p:spPr>
        <p:txBody>
          <a:bodyPr wrap="square" lIns="0" tIns="0" rIns="0" bIns="0" rtlCol="0" anchor="t"/>
          <a:lstStyle/>
          <a:p>
            <a:pPr indent="0" marL="0">
              <a:lnSpc>
                <a:spcPct val="95000"/>
              </a:lnSpc>
              <a:buNone/>
            </a:pPr>
            <a:r>
              <a:rPr lang="en-US" sz="850" dirty="0">
                <a:solidFill>
                  <a:srgbClr val="404040"/>
                </a:solidFill>
                <a:latin typeface="Calibri" pitchFamily="34" charset="0"/>
                <a:ea typeface="Calibri" pitchFamily="34" charset="-122"/>
                <a:cs typeface="Calibri" pitchFamily="34" charset="-120"/>
              </a:rPr>
              <a:t>Curate business-friendly names, descriptions, synonyms and allowed values in the catalog.</a:t>
            </a:r>
            <a:endParaRPr lang="en-US" sz="850" dirty="0"/>
          </a:p>
        </p:txBody>
      </p:sp>
      <p:sp>
        <p:nvSpPr>
          <p:cNvPr id="50" name="Shape 48"/>
          <p:cNvSpPr/>
          <p:nvPr/>
        </p:nvSpPr>
        <p:spPr>
          <a:xfrm>
            <a:off x="5102352" y="5413248"/>
            <a:ext cx="237744" cy="237744"/>
          </a:xfrm>
          <a:prstGeom prst="ellipse">
            <a:avLst/>
          </a:prstGeom>
          <a:solidFill>
            <a:srgbClr val="C0434E"/>
          </a:solidFill>
          <a:ln/>
        </p:spPr>
      </p:sp>
      <p:sp>
        <p:nvSpPr>
          <p:cNvPr id="51" name="Text 49"/>
          <p:cNvSpPr/>
          <p:nvPr/>
        </p:nvSpPr>
        <p:spPr>
          <a:xfrm>
            <a:off x="5102352" y="5413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52" name="Text 50"/>
          <p:cNvSpPr/>
          <p:nvPr/>
        </p:nvSpPr>
        <p:spPr>
          <a:xfrm>
            <a:off x="5422392" y="5394960"/>
            <a:ext cx="1682496" cy="292608"/>
          </a:xfrm>
          <a:prstGeom prst="rect">
            <a:avLst/>
          </a:prstGeom>
          <a:noFill/>
          <a:ln/>
        </p:spPr>
        <p:txBody>
          <a:bodyPr wrap="square" lIns="0" tIns="0" rIns="0" bIns="0" rtlCol="0" anchor="t"/>
          <a:lstStyle/>
          <a:p>
            <a:pPr indent="0" marL="0">
              <a:lnSpc>
                <a:spcPct val="92000"/>
              </a:lnSpc>
              <a:buNone/>
            </a:pPr>
            <a:r>
              <a:rPr lang="en-US" sz="950" b="1" dirty="0">
                <a:solidFill>
                  <a:srgbClr val="A6323C"/>
                </a:solidFill>
                <a:latin typeface="Calibri" pitchFamily="34" charset="0"/>
                <a:ea typeface="Calibri" pitchFamily="34" charset="-122"/>
                <a:cs typeface="Calibri" pitchFamily="34" charset="-120"/>
              </a:rPr>
              <a:t>Complex metric logic at runtime</a:t>
            </a:r>
            <a:endParaRPr lang="en-US" sz="950" dirty="0"/>
          </a:p>
        </p:txBody>
      </p:sp>
      <p:sp>
        <p:nvSpPr>
          <p:cNvPr id="53" name="Text 51"/>
          <p:cNvSpPr/>
          <p:nvPr/>
        </p:nvSpPr>
        <p:spPr>
          <a:xfrm>
            <a:off x="5102352" y="5760720"/>
            <a:ext cx="1975104" cy="530352"/>
          </a:xfrm>
          <a:prstGeom prst="rect">
            <a:avLst/>
          </a:prstGeom>
          <a:noFill/>
          <a:ln/>
        </p:spPr>
        <p:txBody>
          <a:bodyPr wrap="square" lIns="0" tIns="0" rIns="0" bIns="0" rtlCol="0" anchor="t"/>
          <a:lstStyle/>
          <a:p>
            <a:pPr indent="0" marL="0">
              <a:lnSpc>
                <a:spcPct val="95000"/>
              </a:lnSpc>
              <a:buNone/>
            </a:pPr>
            <a:r>
              <a:rPr lang="en-US" sz="850" dirty="0">
                <a:solidFill>
                  <a:srgbClr val="404040"/>
                </a:solidFill>
                <a:latin typeface="Calibri" pitchFamily="34" charset="0"/>
                <a:ea typeface="Calibri" pitchFamily="34" charset="-122"/>
                <a:cs typeface="Calibri" pitchFamily="34" charset="-120"/>
              </a:rPr>
              <a:t>Pre-compute nested KPI logic into metric views and semantic measures, not generated SQL.</a:t>
            </a:r>
            <a:endParaRPr lang="en-US" sz="850" dirty="0"/>
          </a:p>
        </p:txBody>
      </p:sp>
      <p:sp>
        <p:nvSpPr>
          <p:cNvPr id="54" name="Shape 52"/>
          <p:cNvSpPr/>
          <p:nvPr/>
        </p:nvSpPr>
        <p:spPr>
          <a:xfrm>
            <a:off x="7242048" y="5413248"/>
            <a:ext cx="237744" cy="237744"/>
          </a:xfrm>
          <a:prstGeom prst="ellipse">
            <a:avLst/>
          </a:prstGeom>
          <a:solidFill>
            <a:srgbClr val="C0434E"/>
          </a:solidFill>
          <a:ln/>
        </p:spPr>
      </p:sp>
      <p:sp>
        <p:nvSpPr>
          <p:cNvPr id="55" name="Text 53"/>
          <p:cNvSpPr/>
          <p:nvPr/>
        </p:nvSpPr>
        <p:spPr>
          <a:xfrm>
            <a:off x="7242048" y="5413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56" name="Text 54"/>
          <p:cNvSpPr/>
          <p:nvPr/>
        </p:nvSpPr>
        <p:spPr>
          <a:xfrm>
            <a:off x="7562088" y="5394960"/>
            <a:ext cx="1682496" cy="292608"/>
          </a:xfrm>
          <a:prstGeom prst="rect">
            <a:avLst/>
          </a:prstGeom>
          <a:noFill/>
          <a:ln/>
        </p:spPr>
        <p:txBody>
          <a:bodyPr wrap="square" lIns="0" tIns="0" rIns="0" bIns="0" rtlCol="0" anchor="t"/>
          <a:lstStyle/>
          <a:p>
            <a:pPr indent="0" marL="0">
              <a:lnSpc>
                <a:spcPct val="92000"/>
              </a:lnSpc>
              <a:buNone/>
            </a:pPr>
            <a:r>
              <a:rPr lang="en-US" sz="950" b="1" dirty="0">
                <a:solidFill>
                  <a:srgbClr val="A6323C"/>
                </a:solidFill>
                <a:latin typeface="Calibri" pitchFamily="34" charset="0"/>
                <a:ea typeface="Calibri" pitchFamily="34" charset="-122"/>
                <a:cs typeface="Calibri" pitchFamily="34" charset="-120"/>
              </a:rPr>
              <a:t>Skewed, inadequate evaluation</a:t>
            </a:r>
            <a:endParaRPr lang="en-US" sz="950" dirty="0"/>
          </a:p>
        </p:txBody>
      </p:sp>
      <p:sp>
        <p:nvSpPr>
          <p:cNvPr id="57" name="Text 55"/>
          <p:cNvSpPr/>
          <p:nvPr/>
        </p:nvSpPr>
        <p:spPr>
          <a:xfrm>
            <a:off x="7242048" y="5760720"/>
            <a:ext cx="1975104" cy="530352"/>
          </a:xfrm>
          <a:prstGeom prst="rect">
            <a:avLst/>
          </a:prstGeom>
          <a:noFill/>
          <a:ln/>
        </p:spPr>
        <p:txBody>
          <a:bodyPr wrap="square" lIns="0" tIns="0" rIns="0" bIns="0" rtlCol="0" anchor="t"/>
          <a:lstStyle/>
          <a:p>
            <a:pPr indent="0" marL="0">
              <a:lnSpc>
                <a:spcPct val="95000"/>
              </a:lnSpc>
              <a:buNone/>
            </a:pPr>
            <a:r>
              <a:rPr lang="en-US" sz="850" dirty="0">
                <a:solidFill>
                  <a:srgbClr val="404040"/>
                </a:solidFill>
                <a:latin typeface="Calibri" pitchFamily="34" charset="0"/>
                <a:ea typeface="Calibri" pitchFamily="34" charset="-122"/>
                <a:cs typeface="Calibri" pitchFamily="34" charset="-120"/>
              </a:rPr>
              <a:t>A ~100-question benchmark across simple, intermediate and advanced scenarios, plus edge cases.</a:t>
            </a:r>
            <a:endParaRPr lang="en-US" sz="850" dirty="0"/>
          </a:p>
        </p:txBody>
      </p:sp>
      <p:sp>
        <p:nvSpPr>
          <p:cNvPr id="58" name="Shape 56"/>
          <p:cNvSpPr/>
          <p:nvPr/>
        </p:nvSpPr>
        <p:spPr>
          <a:xfrm>
            <a:off x="9381744" y="5413248"/>
            <a:ext cx="237744" cy="237744"/>
          </a:xfrm>
          <a:prstGeom prst="ellipse">
            <a:avLst/>
          </a:prstGeom>
          <a:solidFill>
            <a:srgbClr val="C0434E"/>
          </a:solidFill>
          <a:ln/>
        </p:spPr>
      </p:sp>
      <p:sp>
        <p:nvSpPr>
          <p:cNvPr id="59" name="Text 57"/>
          <p:cNvSpPr/>
          <p:nvPr/>
        </p:nvSpPr>
        <p:spPr>
          <a:xfrm>
            <a:off x="9381744" y="541324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60" name="Text 58"/>
          <p:cNvSpPr/>
          <p:nvPr/>
        </p:nvSpPr>
        <p:spPr>
          <a:xfrm>
            <a:off x="9701784" y="5394960"/>
            <a:ext cx="1682496" cy="292608"/>
          </a:xfrm>
          <a:prstGeom prst="rect">
            <a:avLst/>
          </a:prstGeom>
          <a:noFill/>
          <a:ln/>
        </p:spPr>
        <p:txBody>
          <a:bodyPr wrap="square" lIns="0" tIns="0" rIns="0" bIns="0" rtlCol="0" anchor="t"/>
          <a:lstStyle/>
          <a:p>
            <a:pPr indent="0" marL="0">
              <a:lnSpc>
                <a:spcPct val="92000"/>
              </a:lnSpc>
              <a:buNone/>
            </a:pPr>
            <a:r>
              <a:rPr lang="en-US" sz="950" b="1" dirty="0">
                <a:solidFill>
                  <a:srgbClr val="A6323C"/>
                </a:solidFill>
                <a:latin typeface="Calibri" pitchFamily="34" charset="0"/>
                <a:ea typeface="Calibri" pitchFamily="34" charset="-122"/>
                <a:cs typeface="Calibri" pitchFamily="34" charset="-120"/>
              </a:rPr>
              <a:t>One-time testing, no drift monitoring</a:t>
            </a:r>
            <a:endParaRPr lang="en-US" sz="950" dirty="0"/>
          </a:p>
        </p:txBody>
      </p:sp>
      <p:sp>
        <p:nvSpPr>
          <p:cNvPr id="61" name="Text 59"/>
          <p:cNvSpPr/>
          <p:nvPr/>
        </p:nvSpPr>
        <p:spPr>
          <a:xfrm>
            <a:off x="9381744" y="5760720"/>
            <a:ext cx="1975104" cy="530352"/>
          </a:xfrm>
          <a:prstGeom prst="rect">
            <a:avLst/>
          </a:prstGeom>
          <a:noFill/>
          <a:ln/>
        </p:spPr>
        <p:txBody>
          <a:bodyPr wrap="square" lIns="0" tIns="0" rIns="0" bIns="0" rtlCol="0" anchor="t"/>
          <a:lstStyle/>
          <a:p>
            <a:pPr indent="0" marL="0">
              <a:lnSpc>
                <a:spcPct val="95000"/>
              </a:lnSpc>
              <a:buNone/>
            </a:pPr>
            <a:r>
              <a:rPr lang="en-US" sz="850" dirty="0">
                <a:solidFill>
                  <a:srgbClr val="404040"/>
                </a:solidFill>
                <a:latin typeface="Calibri" pitchFamily="34" charset="0"/>
                <a:ea typeface="Calibri" pitchFamily="34" charset="-122"/>
                <a:cs typeface="Calibri" pitchFamily="34" charset="-120"/>
              </a:rPr>
              <a:t>Recurring regression on the benchmark suite; refresh examples as terminology shifts.</a:t>
            </a:r>
            <a:endParaRPr lang="en-US" sz="850" dirty="0"/>
          </a:p>
        </p:txBody>
      </p:sp>
      <p:sp>
        <p:nvSpPr>
          <p:cNvPr id="62" name="Text 60"/>
          <p:cNvSpPr/>
          <p:nvPr/>
        </p:nvSpPr>
        <p:spPr>
          <a:xfrm>
            <a:off x="411480" y="6327648"/>
            <a:ext cx="11338560" cy="274320"/>
          </a:xfrm>
          <a:prstGeom prst="rect">
            <a:avLst/>
          </a:prstGeom>
          <a:noFill/>
          <a:ln/>
        </p:spPr>
        <p:txBody>
          <a:bodyPr wrap="square" lIns="0" tIns="0" rIns="0" bIns="0" rtlCol="0" anchor="ctr"/>
          <a:lstStyle/>
          <a:p>
            <a:pPr indent="0" marL="0">
              <a:buNone/>
            </a:pPr>
            <a:r>
              <a:rPr lang="en-US" sz="1100" b="1" dirty="0">
                <a:solidFill>
                  <a:srgbClr val="A6323C"/>
                </a:solidFill>
                <a:latin typeface="Calibri" pitchFamily="34" charset="0"/>
                <a:ea typeface="Calibri" pitchFamily="34" charset="-122"/>
                <a:cs typeface="Calibri" pitchFamily="34" charset="-120"/>
              </a:rPr>
              <a:t>So what:  </a:t>
            </a:r>
            <a:pPr indent="0" marL="0">
              <a:buNone/>
            </a:pPr>
            <a:r>
              <a:rPr lang="en-US" sz="1100" b="1" dirty="0">
                <a:solidFill>
                  <a:srgbClr val="1F3864"/>
                </a:solidFill>
                <a:latin typeface="Calibri" pitchFamily="34" charset="0"/>
                <a:ea typeface="Calibri" pitchFamily="34" charset="-122"/>
                <a:cs typeface="Calibri" pitchFamily="34" charset="-120"/>
              </a:rPr>
              <a:t>conversational BI does not raise the ceiling — the data foundation does. Scope the pilot under the line your data actually supports, and clear the gates in order.</a:t>
            </a:r>
            <a:endParaRPr lang="en-US" sz="1100" dirty="0"/>
          </a:p>
        </p:txBody>
      </p:sp>
      <p:sp>
        <p:nvSpPr>
          <p:cNvPr id="63" name="Text 61"/>
          <p:cNvSpPr/>
          <p:nvPr/>
        </p:nvSpPr>
        <p:spPr>
          <a:xfrm>
            <a:off x="6949440" y="6620256"/>
            <a:ext cx="32918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©2026 ExlService Holdings, Inc. All rights reserved.</a:t>
            </a:r>
            <a:endParaRPr lang="en-US" sz="800" dirty="0"/>
          </a:p>
        </p:txBody>
      </p:sp>
      <p:sp>
        <p:nvSpPr>
          <p:cNvPr id="64" name="Text 62"/>
          <p:cNvSpPr/>
          <p:nvPr/>
        </p:nvSpPr>
        <p:spPr>
          <a:xfrm>
            <a:off x="10881360" y="6556248"/>
            <a:ext cx="868680" cy="274320"/>
          </a:xfrm>
          <a:prstGeom prst="rect">
            <a:avLst/>
          </a:prstGeom>
          <a:noFill/>
          <a:ln/>
        </p:spPr>
        <p:txBody>
          <a:bodyPr wrap="square" lIns="0" tIns="0" rIns="0" bIns="0" rtlCol="0" anchor="ctr"/>
          <a:lstStyle/>
          <a:p>
            <a:pPr algn="r" indent="0" marL="0">
              <a:buNone/>
            </a:pPr>
            <a:r>
              <a:rPr lang="en-US" sz="1800" b="1" dirty="0">
                <a:solidFill>
                  <a:srgbClr val="C0434E"/>
                </a:solidFill>
                <a:latin typeface="Calibri" pitchFamily="34" charset="0"/>
                <a:ea typeface="Calibri" pitchFamily="34" charset="-122"/>
                <a:cs typeface="Calibri" pitchFamily="34" charset="-120"/>
              </a:rPr>
              <a:t>EXL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2026-08-03T09:50:53Z</dcterms:created>
  <dcterms:modified xsi:type="dcterms:W3CDTF">2026-08-03T09:50:53Z</dcterms:modified>
</cp:coreProperties>
</file>