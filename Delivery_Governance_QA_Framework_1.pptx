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6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Delivery Model  |  Governance &amp;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1170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234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 Delivery Governance &amp; Quality Assurance Framework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9326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integrated operating model — governing every stage of delivery to ensure speed, quality, and confidence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0" y="9509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D94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 ·  Scalable  ·  Audit-ready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59639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AF1F8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15262"/>
            <a:ext cx="329184" cy="329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60704" y="1572768"/>
            <a:ext cx="2331720" cy="614172"/>
          </a:xfrm>
          <a:prstGeom prst="chevron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225296" y="1572768"/>
            <a:ext cx="1874520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Planning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84048" y="235686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AF1F8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75738"/>
            <a:ext cx="329184" cy="32918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60704" y="2333244"/>
            <a:ext cx="2331720" cy="614172"/>
          </a:xfrm>
          <a:prstGeom prst="chevron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1225296" y="2333244"/>
            <a:ext cx="1874520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Execution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84048" y="311734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AF1F8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36214"/>
            <a:ext cx="329184" cy="32918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060704" y="3093720"/>
            <a:ext cx="2331720" cy="614172"/>
          </a:xfrm>
          <a:prstGeom prst="chevron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1225296" y="3093720"/>
            <a:ext cx="1874520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Testing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84048" y="387781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AF1F8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96690"/>
            <a:ext cx="329184" cy="32918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060704" y="3854196"/>
            <a:ext cx="2331720" cy="614172"/>
          </a:xfrm>
          <a:prstGeom prst="chevron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1225296" y="3854196"/>
            <a:ext cx="1874520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Release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84048" y="4638294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AF1F8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757166"/>
            <a:ext cx="329184" cy="329184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1060704" y="4614672"/>
            <a:ext cx="2331720" cy="614172"/>
          </a:xfrm>
          <a:prstGeom prst="chevron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1225296" y="4614672"/>
            <a:ext cx="1874520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Support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384048" y="539877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AF1F8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5517642"/>
            <a:ext cx="329184" cy="329184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1060704" y="5375148"/>
            <a:ext cx="2331720" cy="614172"/>
          </a:xfrm>
          <a:prstGeom prst="chevron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29" name="Text 21"/>
          <p:cNvSpPr/>
          <p:nvPr/>
        </p:nvSpPr>
        <p:spPr>
          <a:xfrm>
            <a:off x="1225296" y="5375148"/>
            <a:ext cx="1874520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3611880" y="1572768"/>
            <a:ext cx="310896" cy="31089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3611880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4032504" y="1536192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Delivery Engine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4032504" y="1920240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D94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 &amp; adaptability embedded in every sprint</a:t>
            </a:r>
            <a:endParaRPr lang="en-US" sz="750" dirty="0"/>
          </a:p>
        </p:txBody>
      </p:sp>
      <p:sp>
        <p:nvSpPr>
          <p:cNvPr id="34" name="Text 26"/>
          <p:cNvSpPr/>
          <p:nvPr/>
        </p:nvSpPr>
        <p:spPr>
          <a:xfrm>
            <a:off x="4032504" y="2121408"/>
            <a:ext cx="2148840" cy="152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Two-week sprint cycles with backlog prioritisation &amp; daily standups</a:t>
            </a:r>
            <a:endParaRPr lang="en-US" sz="930" dirty="0"/>
          </a:p>
          <a:p>
            <a:pPr algn="l" marL="177800" indent="-1778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change accommodation — re-planning without disruption</a:t>
            </a:r>
            <a:endParaRPr lang="en-US" sz="930" dirty="0"/>
          </a:p>
          <a:p>
            <a:pPr algn="l" marL="177800" indent="-1778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tracking, capacity forecasting &amp; burn-down visibility</a:t>
            </a:r>
            <a:endParaRPr lang="en-US" sz="930" dirty="0"/>
          </a:p>
        </p:txBody>
      </p:sp>
      <p:sp>
        <p:nvSpPr>
          <p:cNvPr id="35" name="Shape 27"/>
          <p:cNvSpPr/>
          <p:nvPr/>
        </p:nvSpPr>
        <p:spPr>
          <a:xfrm>
            <a:off x="3611880" y="3918204"/>
            <a:ext cx="310896" cy="31089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3611880" y="39182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4032504" y="3881628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 &amp; Assurance Framework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4032504" y="4265676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D94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woven in — not bolted on</a:t>
            </a:r>
            <a:endParaRPr lang="en-US" sz="750" dirty="0"/>
          </a:p>
        </p:txBody>
      </p:sp>
      <p:sp>
        <p:nvSpPr>
          <p:cNvPr id="39" name="Text 31"/>
          <p:cNvSpPr/>
          <p:nvPr/>
        </p:nvSpPr>
        <p:spPr>
          <a:xfrm>
            <a:off x="4032504" y="4466844"/>
            <a:ext cx="2148840" cy="152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testing: requirements, design &amp; code reviewed before build</a:t>
            </a:r>
            <a:endParaRPr lang="en-US" sz="930" dirty="0"/>
          </a:p>
          <a:p>
            <a:pPr algn="l" marL="177800" indent="-1778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regression + UAT with signed-off acceptance criteria</a:t>
            </a:r>
            <a:endParaRPr lang="en-US" sz="930" dirty="0"/>
          </a:p>
          <a:p>
            <a:pPr algn="l" marL="177800" indent="-1778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triage, root-cause analysis, and zero-defect SLA tracking</a:t>
            </a:r>
            <a:endParaRPr lang="en-US" sz="930" dirty="0"/>
          </a:p>
        </p:txBody>
      </p:sp>
      <p:sp>
        <p:nvSpPr>
          <p:cNvPr id="40" name="Shape 32"/>
          <p:cNvSpPr/>
          <p:nvPr/>
        </p:nvSpPr>
        <p:spPr>
          <a:xfrm>
            <a:off x="6355080" y="1572768"/>
            <a:ext cx="0" cy="4434840"/>
          </a:xfrm>
          <a:prstGeom prst="line">
            <a:avLst/>
          </a:prstGeom>
          <a:noFill/>
          <a:ln w="12700">
            <a:solidFill>
              <a:srgbClr val="D5DEE6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6537960" y="1572768"/>
            <a:ext cx="310896" cy="31089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6537960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Text 35"/>
          <p:cNvSpPr/>
          <p:nvPr/>
        </p:nvSpPr>
        <p:spPr>
          <a:xfrm>
            <a:off x="6958584" y="1536192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Integration &amp; Cadence</a:t>
            </a:r>
            <a:endParaRPr lang="en-US" sz="1250" dirty="0"/>
          </a:p>
        </p:txBody>
      </p:sp>
      <p:sp>
        <p:nvSpPr>
          <p:cNvPr id="44" name="Text 36"/>
          <p:cNvSpPr/>
          <p:nvPr/>
        </p:nvSpPr>
        <p:spPr>
          <a:xfrm>
            <a:off x="6958584" y="1920240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D94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oversight across tools, teams &amp; stakeholders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6958584" y="2121408"/>
            <a:ext cx="2011680" cy="152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status, fortnightly steering &amp; executive escalation paths</a:t>
            </a:r>
            <a:endParaRPr lang="en-US" sz="930" dirty="0"/>
          </a:p>
          <a:p>
            <a:pPr algn="l" marL="177800" indent="-1778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governance layer integrating client systems, tools &amp; teams</a:t>
            </a:r>
            <a:endParaRPr lang="en-US" sz="930" dirty="0"/>
          </a:p>
          <a:p>
            <a:pPr algn="l" marL="177800" indent="-1778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radar, SLA dashboards &amp; audit-ready reporting throughout</a:t>
            </a:r>
            <a:endParaRPr lang="en-US" sz="930" dirty="0"/>
          </a:p>
        </p:txBody>
      </p:sp>
      <p:sp>
        <p:nvSpPr>
          <p:cNvPr id="46" name="Shape 38"/>
          <p:cNvSpPr/>
          <p:nvPr/>
        </p:nvSpPr>
        <p:spPr>
          <a:xfrm>
            <a:off x="6537960" y="3918204"/>
            <a:ext cx="310896" cy="31089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6537960" y="39182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8" name="Text 40"/>
          <p:cNvSpPr/>
          <p:nvPr/>
        </p:nvSpPr>
        <p:spPr>
          <a:xfrm>
            <a:off x="6958584" y="388162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Flexible Operating Model</a:t>
            </a:r>
            <a:endParaRPr lang="en-US" sz="1250" dirty="0"/>
          </a:p>
        </p:txBody>
      </p:sp>
      <p:sp>
        <p:nvSpPr>
          <p:cNvPr id="49" name="Text 41"/>
          <p:cNvSpPr/>
          <p:nvPr/>
        </p:nvSpPr>
        <p:spPr>
          <a:xfrm>
            <a:off x="6958584" y="4265676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D94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team, right size, right time — always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6958584" y="4466844"/>
            <a:ext cx="2011680" cy="152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Onshore-offshore blended pods with T-shaped skills</a:t>
            </a:r>
            <a:endParaRPr lang="en-US" sz="930" dirty="0"/>
          </a:p>
          <a:p>
            <a:pPr algn="l" marL="177800" indent="-1778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ramp-up / ramp-down playbook aligned to delivery phases</a:t>
            </a:r>
            <a:endParaRPr lang="en-US" sz="930" dirty="0"/>
          </a:p>
          <a:p>
            <a:pPr algn="l" marL="177800" indent="-1778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knowledge transfer &amp; living documentation at every exit</a:t>
            </a:r>
            <a:endParaRPr lang="en-US" sz="930" dirty="0"/>
          </a:p>
        </p:txBody>
      </p:sp>
      <p:sp>
        <p:nvSpPr>
          <p:cNvPr id="51" name="Shape 43"/>
          <p:cNvSpPr/>
          <p:nvPr/>
        </p:nvSpPr>
        <p:spPr>
          <a:xfrm>
            <a:off x="9189720" y="1572768"/>
            <a:ext cx="2697480" cy="658368"/>
          </a:xfrm>
          <a:prstGeom prst="roundRect">
            <a:avLst>
              <a:gd name="adj" fmla="val 8333"/>
            </a:avLst>
          </a:prstGeom>
          <a:solidFill>
            <a:srgbClr val="D94F1A"/>
          </a:solidFill>
          <a:ln w="12700">
            <a:solidFill>
              <a:srgbClr val="D94F1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5000"/>
              </a:srgbClr>
            </a:outerShdw>
          </a:effectLst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6024" y="1764792"/>
            <a:ext cx="292608" cy="292608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9720072" y="1572768"/>
            <a:ext cx="2093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Assurance</a:t>
            </a:r>
            <a:endParaRPr lang="en-US" sz="1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Commitments</a:t>
            </a:r>
            <a:endParaRPr lang="en-US" sz="1100" dirty="0"/>
          </a:p>
        </p:txBody>
      </p:sp>
      <p:sp>
        <p:nvSpPr>
          <p:cNvPr id="54" name="Shape 45"/>
          <p:cNvSpPr/>
          <p:nvPr/>
        </p:nvSpPr>
        <p:spPr>
          <a:xfrm>
            <a:off x="9235440" y="2494026"/>
            <a:ext cx="512064" cy="512064"/>
          </a:xfrm>
          <a:prstGeom prst="ellipse">
            <a:avLst/>
          </a:prstGeom>
          <a:solidFill>
            <a:srgbClr val="FBEDE6"/>
          </a:solidFill>
          <a:ln w="12700">
            <a:solidFill>
              <a:srgbClr val="D94F1A"/>
            </a:solidFill>
            <a:prstDash val="solid"/>
          </a:ln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4312" y="2612898"/>
            <a:ext cx="274320" cy="274320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9875520" y="2441448"/>
            <a:ext cx="19659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delivery with</a:t>
            </a:r>
            <a:endParaRPr lang="en-US" sz="10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</a:t>
            </a:r>
            <a:endParaRPr lang="en-US" sz="1000" dirty="0"/>
          </a:p>
        </p:txBody>
      </p:sp>
      <p:sp>
        <p:nvSpPr>
          <p:cNvPr id="57" name="Shape 47"/>
          <p:cNvSpPr/>
          <p:nvPr/>
        </p:nvSpPr>
        <p:spPr>
          <a:xfrm>
            <a:off x="9875520" y="3131820"/>
            <a:ext cx="1920240" cy="0"/>
          </a:xfrm>
          <a:prstGeom prst="line">
            <a:avLst/>
          </a:prstGeom>
          <a:noFill/>
          <a:ln w="9525">
            <a:solidFill>
              <a:srgbClr val="E6DAD2"/>
            </a:solidFill>
            <a:prstDash val="dash"/>
          </a:ln>
        </p:spPr>
      </p:sp>
      <p:sp>
        <p:nvSpPr>
          <p:cNvPr id="58" name="Shape 48"/>
          <p:cNvSpPr/>
          <p:nvPr/>
        </p:nvSpPr>
        <p:spPr>
          <a:xfrm>
            <a:off x="9235440" y="3257550"/>
            <a:ext cx="512064" cy="512064"/>
          </a:xfrm>
          <a:prstGeom prst="ellipse">
            <a:avLst/>
          </a:prstGeom>
          <a:solidFill>
            <a:srgbClr val="FBEDE6"/>
          </a:solidFill>
          <a:ln w="12700">
            <a:solidFill>
              <a:srgbClr val="D94F1A"/>
            </a:solidFill>
            <a:prstDash val="solid"/>
          </a:ln>
        </p:spPr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54312" y="3376422"/>
            <a:ext cx="274320" cy="274320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9875520" y="3204972"/>
            <a:ext cx="19659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knowledge</a:t>
            </a:r>
            <a:endParaRPr lang="en-US" sz="10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&amp; structured handoff</a:t>
            </a:r>
            <a:endParaRPr lang="en-US" sz="1000" dirty="0"/>
          </a:p>
        </p:txBody>
      </p:sp>
      <p:sp>
        <p:nvSpPr>
          <p:cNvPr id="61" name="Shape 50"/>
          <p:cNvSpPr/>
          <p:nvPr/>
        </p:nvSpPr>
        <p:spPr>
          <a:xfrm>
            <a:off x="9875520" y="3895344"/>
            <a:ext cx="1920240" cy="0"/>
          </a:xfrm>
          <a:prstGeom prst="line">
            <a:avLst/>
          </a:prstGeom>
          <a:noFill/>
          <a:ln w="9525">
            <a:solidFill>
              <a:srgbClr val="E6DAD2"/>
            </a:solidFill>
            <a:prstDash val="dash"/>
          </a:ln>
        </p:spPr>
      </p:sp>
      <p:sp>
        <p:nvSpPr>
          <p:cNvPr id="62" name="Shape 51"/>
          <p:cNvSpPr/>
          <p:nvPr/>
        </p:nvSpPr>
        <p:spPr>
          <a:xfrm>
            <a:off x="9235440" y="4021074"/>
            <a:ext cx="512064" cy="512064"/>
          </a:xfrm>
          <a:prstGeom prst="ellipse">
            <a:avLst/>
          </a:prstGeom>
          <a:solidFill>
            <a:srgbClr val="FBEDE6"/>
          </a:solidFill>
          <a:ln w="12700">
            <a:solidFill>
              <a:srgbClr val="D94F1A"/>
            </a:solidFill>
            <a:prstDash val="solid"/>
          </a:ln>
        </p:spPr>
      </p:sp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54312" y="4139946"/>
            <a:ext cx="274320" cy="274320"/>
          </a:xfrm>
          <a:prstGeom prst="rect">
            <a:avLst/>
          </a:prstGeom>
        </p:spPr>
      </p:pic>
      <p:sp>
        <p:nvSpPr>
          <p:cNvPr id="64" name="Text 52"/>
          <p:cNvSpPr/>
          <p:nvPr/>
        </p:nvSpPr>
        <p:spPr>
          <a:xfrm>
            <a:off x="9875520" y="3968496"/>
            <a:ext cx="19659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Client-aligned governance</a:t>
            </a:r>
            <a:endParaRPr lang="en-US" sz="10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&amp; reporting</a:t>
            </a:r>
            <a:endParaRPr lang="en-US" sz="1000" dirty="0"/>
          </a:p>
        </p:txBody>
      </p:sp>
      <p:sp>
        <p:nvSpPr>
          <p:cNvPr id="65" name="Shape 53"/>
          <p:cNvSpPr/>
          <p:nvPr/>
        </p:nvSpPr>
        <p:spPr>
          <a:xfrm>
            <a:off x="9875520" y="4658868"/>
            <a:ext cx="1920240" cy="0"/>
          </a:xfrm>
          <a:prstGeom prst="line">
            <a:avLst/>
          </a:prstGeom>
          <a:noFill/>
          <a:ln w="9525">
            <a:solidFill>
              <a:srgbClr val="E6DAD2"/>
            </a:solidFill>
            <a:prstDash val="dash"/>
          </a:ln>
        </p:spPr>
      </p:sp>
      <p:sp>
        <p:nvSpPr>
          <p:cNvPr id="66" name="Shape 54"/>
          <p:cNvSpPr/>
          <p:nvPr/>
        </p:nvSpPr>
        <p:spPr>
          <a:xfrm>
            <a:off x="9235440" y="4784598"/>
            <a:ext cx="512064" cy="512064"/>
          </a:xfrm>
          <a:prstGeom prst="ellipse">
            <a:avLst/>
          </a:prstGeom>
          <a:solidFill>
            <a:srgbClr val="FBEDE6"/>
          </a:solidFill>
          <a:ln w="12700">
            <a:solidFill>
              <a:srgbClr val="D94F1A"/>
            </a:solidFill>
            <a:prstDash val="solid"/>
          </a:ln>
        </p:spPr>
      </p:sp>
      <p:pic>
        <p:nvPicPr>
          <p:cNvPr id="6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54312" y="4903470"/>
            <a:ext cx="274320" cy="274320"/>
          </a:xfrm>
          <a:prstGeom prst="rect">
            <a:avLst/>
          </a:prstGeom>
        </p:spPr>
      </p:pic>
      <p:sp>
        <p:nvSpPr>
          <p:cNvPr id="68" name="Text 55"/>
          <p:cNvSpPr/>
          <p:nvPr/>
        </p:nvSpPr>
        <p:spPr>
          <a:xfrm>
            <a:off x="9875520" y="4732020"/>
            <a:ext cx="19659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quality at</a:t>
            </a:r>
            <a:endParaRPr lang="en-US" sz="10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— zero defects</a:t>
            </a:r>
            <a:endParaRPr lang="en-US" sz="1000" dirty="0"/>
          </a:p>
        </p:txBody>
      </p:sp>
      <p:sp>
        <p:nvSpPr>
          <p:cNvPr id="69" name="Shape 56"/>
          <p:cNvSpPr/>
          <p:nvPr/>
        </p:nvSpPr>
        <p:spPr>
          <a:xfrm>
            <a:off x="9427464" y="5486400"/>
            <a:ext cx="2221992" cy="384048"/>
          </a:xfrm>
          <a:prstGeom prst="roundRect">
            <a:avLst>
              <a:gd name="adj" fmla="val 11905"/>
            </a:avLst>
          </a:prstGeom>
          <a:solidFill>
            <a:srgbClr val="B8400F"/>
          </a:solidFill>
          <a:ln w="12700">
            <a:solidFill>
              <a:srgbClr val="B8400F"/>
            </a:solidFill>
            <a:prstDash val="solid"/>
          </a:ln>
        </p:spPr>
      </p:sp>
      <p:sp>
        <p:nvSpPr>
          <p:cNvPr id="70" name="Text 57"/>
          <p:cNvSpPr/>
          <p:nvPr/>
        </p:nvSpPr>
        <p:spPr>
          <a:xfrm>
            <a:off x="9427464" y="5486400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ACROSS 50+ ENGAGEMENTS</a:t>
            </a:r>
            <a:endParaRPr lang="en-US" sz="850" dirty="0"/>
          </a:p>
        </p:txBody>
      </p:sp>
      <p:sp>
        <p:nvSpPr>
          <p:cNvPr id="71" name="Text 58"/>
          <p:cNvSpPr/>
          <p:nvPr/>
        </p:nvSpPr>
        <p:spPr>
          <a:xfrm>
            <a:off x="10698480" y="5989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94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EXL</a:t>
            </a:r>
            <a:endParaRPr lang="en-US" sz="2600" dirty="0"/>
          </a:p>
        </p:txBody>
      </p:sp>
      <p:sp>
        <p:nvSpPr>
          <p:cNvPr id="72" name="Text 59"/>
          <p:cNvSpPr/>
          <p:nvPr/>
        </p:nvSpPr>
        <p:spPr>
          <a:xfrm>
            <a:off x="365760" y="64465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EXL Service Holdings, Inc. All rights reserved.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2026-06-03T15:11:05Z</dcterms:created>
  <dcterms:modified xsi:type="dcterms:W3CDTF">2026-06-03T15:11:05Z</dcterms:modified>
</cp:coreProperties>
</file>