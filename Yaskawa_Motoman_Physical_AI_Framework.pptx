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457200"/>
            <a:ext cx="228600" cy="4114800"/>
          </a:xfrm>
          <a:prstGeom prst="rect">
            <a:avLst/>
          </a:prstGeom>
          <a:solidFill>
            <a:srgbClr val="102040">
              <a:alpha val="70000"/>
            </a:srgbClr>
          </a:solidFill>
          <a:ln w="6350">
            <a:solidFill>
              <a:srgbClr val="1565C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46520" y="457200"/>
            <a:ext cx="228600" cy="4114800"/>
          </a:xfrm>
          <a:prstGeom prst="rect">
            <a:avLst/>
          </a:prstGeom>
          <a:solidFill>
            <a:srgbClr val="102040">
              <a:alpha val="70000"/>
            </a:srgbClr>
          </a:solidFill>
          <a:ln w="6350">
            <a:solidFill>
              <a:srgbClr val="1565C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457200"/>
            <a:ext cx="228600" cy="4114800"/>
          </a:xfrm>
          <a:prstGeom prst="rect">
            <a:avLst/>
          </a:prstGeom>
          <a:solidFill>
            <a:srgbClr val="102040">
              <a:alpha val="70000"/>
            </a:srgbClr>
          </a:solidFill>
          <a:ln w="6350">
            <a:solidFill>
              <a:srgbClr val="1565C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0" y="457200"/>
            <a:ext cx="228600" cy="4114800"/>
          </a:xfrm>
          <a:prstGeom prst="rect">
            <a:avLst/>
          </a:prstGeom>
          <a:solidFill>
            <a:srgbClr val="102040">
              <a:alpha val="70000"/>
            </a:srgbClr>
          </a:solidFill>
          <a:ln w="6350">
            <a:solidFill>
              <a:srgbClr val="1565C0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0" y="457200"/>
            <a:ext cx="228600" cy="4114800"/>
          </a:xfrm>
          <a:prstGeom prst="rect">
            <a:avLst/>
          </a:prstGeom>
          <a:solidFill>
            <a:srgbClr val="102040">
              <a:alpha val="70000"/>
            </a:srgbClr>
          </a:solidFill>
          <a:ln w="6350">
            <a:solidFill>
              <a:srgbClr val="1565C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58200" y="457200"/>
            <a:ext cx="228600" cy="4114800"/>
          </a:xfrm>
          <a:prstGeom prst="rect">
            <a:avLst/>
          </a:prstGeom>
          <a:solidFill>
            <a:srgbClr val="102040">
              <a:alpha val="70000"/>
            </a:srgbClr>
          </a:solidFill>
          <a:ln w="6350">
            <a:solidFill>
              <a:srgbClr val="1565C0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400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AI &amp; EDGE ML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188720"/>
            <a:ext cx="5943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for Training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Models on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 Devices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" y="35204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Collaborative Framework Proposal for Yaskawa Motoman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2C45"/>
          </a:solidFill>
          <a:ln w="12700">
            <a:solidFill>
              <a:srgbClr val="1A2C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7091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AI/ML Services Engagement  |  2025</a:t>
            </a:r>
            <a:endParaRPr lang="en-US" sz="10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97280"/>
            <a:ext cx="1645920" cy="1645920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743200"/>
            <a:ext cx="1097280" cy="1097280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743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601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508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Constraints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65760" y="1965960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Yaskawa robots operate on microcontrollers with severe limits: &lt; 256KB RAM, no GPU, real-time latency requirements under 10ms, and restricted power budgets.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0" y="82296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822960"/>
            <a:ext cx="2743200" cy="7315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9601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1508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Size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291840" y="1965960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ML/DL models (PyTorch, TensorFlow) are megabytes to gigabytes — completely incompatible with MCU-class hardware without aggressive optimization.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82296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0" y="822960"/>
            <a:ext cx="2743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6012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1508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Training–Deployment Gap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217920" y="1965960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framework exists to train, compress, and validate Physical AI models specifically for embedded robotics deployment at scale.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Yaskawa Motoman requires a purpose-built Physical AI framework — from data to deployed edge intelligence.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ARCHITECTURE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1554480" cy="3200400"/>
          </a:xfrm>
          <a:prstGeom prst="rect">
            <a:avLst/>
          </a:prstGeom>
          <a:solidFill>
            <a:srgbClr val="1A2C45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14400"/>
            <a:ext cx="15544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INGESTION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 / URDF / Sensor Streams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83080" y="2194560"/>
            <a:ext cx="1828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468880"/>
            <a:ext cx="1463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flags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buffer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pipeline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965960" y="914400"/>
            <a:ext cx="1554480" cy="3200400"/>
          </a:xfrm>
          <a:prstGeom prst="rect">
            <a:avLst/>
          </a:prstGeom>
          <a:solidFill>
            <a:srgbClr val="1A2C45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65960" y="914400"/>
            <a:ext cx="15544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10515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FEATURE ENGINEERING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011680" y="16916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+ Signal Processing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20440" y="2194560"/>
            <a:ext cx="1828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2468880"/>
            <a:ext cx="1463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moments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features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reduction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knowledge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703320" y="914400"/>
            <a:ext cx="1554480" cy="3200400"/>
          </a:xfrm>
          <a:prstGeom prst="rect">
            <a:avLst/>
          </a:prstGeom>
          <a:solidFill>
            <a:srgbClr val="1A2C45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03320" y="914400"/>
            <a:ext cx="155448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10515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MODEL TRAINING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749040" y="16916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/ Edge Impulse / NAS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257800" y="2194560"/>
            <a:ext cx="1828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2468880"/>
            <a:ext cx="1463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training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/ NAS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40680" y="914400"/>
            <a:ext cx="1554480" cy="3200400"/>
          </a:xfrm>
          <a:prstGeom prst="rect">
            <a:avLst/>
          </a:prstGeom>
          <a:solidFill>
            <a:srgbClr val="1A2C45"/>
          </a:solidFill>
          <a:ln w="25400">
            <a:solidFill>
              <a:srgbClr val="F57C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40680" y="914400"/>
            <a:ext cx="1554480" cy="7315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10515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COMPRESSION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0" y="16916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/ Pruning / Knowledge Distillation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95160" y="2194560"/>
            <a:ext cx="1828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2468880"/>
            <a:ext cx="1463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quantization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pruning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 teacher→student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profiling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178040" y="914400"/>
            <a:ext cx="1554480" cy="3200400"/>
          </a:xfrm>
          <a:prstGeom prst="rect">
            <a:avLst/>
          </a:prstGeom>
          <a:solidFill>
            <a:srgbClr val="1A2C45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78040" y="914400"/>
            <a:ext cx="15544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0" y="10515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EDGE DEPLOYMENT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223760" y="16916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/ RTOS / Real-Time Inference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223760" y="2468880"/>
            <a:ext cx="1463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CMSIS-NN kernel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 deploy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updates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Watchdog &amp; safety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1A2C45"/>
          </a:solidFill>
          <a:ln w="12700">
            <a:solidFill>
              <a:srgbClr val="1A2C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from raw robot sensor data → validated, compressed ML model running live on microcontroller hardware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DATA STRATEGY &amp; INGESTION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68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3840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encoders &amp; torque sensors (1kHz)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/ accelerometers on end-effector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Vision: depth camera + YOLO detection frames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Force-torque sensor (6-DoF, real-time)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&amp; SCADA process signals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data from MotoSim EG-VRC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synthetic augmentation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80560" y="822960"/>
            <a:ext cx="43891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868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325880"/>
            <a:ext cx="73152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3441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 Topic Subscription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9160" y="16184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sensors publish to standardized topics; bag files created for replay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0" y="2130552"/>
            <a:ext cx="73152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21488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Preprocessing Module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2423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Low-pass filter, normalization, missing-value imputation on-device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2935224"/>
            <a:ext cx="73152" cy="59436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29535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 Pipeline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32278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Semi-auto labeling via heuristic + human-in-the-loop for fault events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3739896"/>
            <a:ext cx="73152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37581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Registry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40325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datasets in MLflow / DVC with reproducibility guarantees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ML MODEL TRAINING STRATEGY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06240" cy="1920240"/>
          </a:xfrm>
          <a:prstGeom prst="rect">
            <a:avLst/>
          </a:prstGeom>
          <a:solidFill>
            <a:srgbClr val="1A2C45"/>
          </a:solidFill>
          <a:ln w="19050">
            <a:solidFill>
              <a:srgbClr val="00B4D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93268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914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38328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/ Isolation Forest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38328" y="17190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bearing failures, joint wear patterns from vibration signals. Target: &lt;8KB model size.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63440" y="822960"/>
            <a:ext cx="4206240" cy="1920240"/>
          </a:xfrm>
          <a:prstGeom prst="rect">
            <a:avLst/>
          </a:prstGeom>
          <a:solidFill>
            <a:srgbClr val="1A2C45"/>
          </a:solidFill>
          <a:ln w="19050">
            <a:solidFill>
              <a:srgbClr val="7C3AE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93268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03520" y="914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Classification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773168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1D-CNN / TinyML Decision Tree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773168" y="17190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robot motion primitives (pick, place, idle) for adaptive control loops.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28600" y="2880360"/>
            <a:ext cx="4206240" cy="1920240"/>
          </a:xfrm>
          <a:prstGeom prst="rect">
            <a:avLst/>
          </a:prstGeom>
          <a:solidFill>
            <a:srgbClr val="1A2C45"/>
          </a:solidFill>
          <a:ln w="19050">
            <a:solidFill>
              <a:srgbClr val="F57C0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2990088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8680" y="2971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38328" y="3474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(compressed) / LightGBM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338328" y="37764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Time-to-failure regression for servo motors. INT8-quantized for MCU deployment.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663440" y="2880360"/>
            <a:ext cx="4206240" cy="1920240"/>
          </a:xfrm>
          <a:prstGeom prst="rect">
            <a:avLst/>
          </a:prstGeom>
          <a:solidFill>
            <a:srgbClr val="1A2C45"/>
          </a:solidFill>
          <a:ln w="19050">
            <a:solidFill>
              <a:srgbClr val="0D9488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990088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03520" y="2971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Force-Adaptive Control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773168" y="3474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(SAC) + Distilled Policy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773168" y="37764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in simulation (MuJoCo/Isaac Sim), distill to tiny policy network for real-time control.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target &lt; 20KB footprint post-compression. Training on GPU cloud; inference on MCU edge hardware.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MODEL COMPRESSION FOR MICROCONTROLLERS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73152" cy="1828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Quantization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93268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9418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smaller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38912" y="1298448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Post-training quantization via TensorFlow Lite / ONNX. Reduces model size 4x with &lt;1% accuracy drop on most robotics tasks.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22960"/>
            <a:ext cx="73152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Pruning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26680" y="93268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26680" y="9418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10× faster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73752" y="1298448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near-zero weights with structured sparsity. Achieves 70–90% sparsity on feed-forward layers without retraining from scratch.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34640"/>
            <a:ext cx="73152" cy="18288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Distillation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294436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29535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8KB student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38912" y="3310128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'teacher' model (trained on cloud GPU) transfers learned representations to a tiny 'student' model designed for MCU constraints.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8346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834640"/>
            <a:ext cx="73152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Architecture Search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26680" y="294436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26680" y="29535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MCU-native arch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73752" y="3310128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AutoML-driven NAS (using Edge Impulse or NNI) searches for Pareto-optimal architecture: minimize latency × minimize error rate.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— EDGE DEPLOYMENT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Hardware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3291840" cy="713232"/>
          </a:xfrm>
          <a:prstGeom prst="rect">
            <a:avLst/>
          </a:prstGeom>
          <a:solidFill>
            <a:srgbClr val="1A2C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61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Cortex-M7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417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STM32H7 | 1MB Flash | 512KB RAM | 480MHz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938528"/>
            <a:ext cx="3291840" cy="713232"/>
          </a:xfrm>
          <a:prstGeom prst="rect">
            <a:avLst/>
          </a:prstGeom>
          <a:solidFill>
            <a:srgbClr val="1A2C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9842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nRF5340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240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Dual-core | BLE | 1MB Flash | 512KB RAM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761488"/>
            <a:ext cx="3291840" cy="713232"/>
          </a:xfrm>
          <a:prstGeom prst="rect">
            <a:avLst/>
          </a:prstGeom>
          <a:solidFill>
            <a:srgbClr val="1A2C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8072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Renesas RA6M5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3063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Cortex-M33 | TrustZone | 2MB Flash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584448"/>
            <a:ext cx="3291840" cy="713232"/>
          </a:xfrm>
          <a:prstGeom prst="rect">
            <a:avLst/>
          </a:prstGeom>
          <a:solidFill>
            <a:srgbClr val="1A2C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6301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Yaskawa YCP01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" y="3886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robot controller expansion slot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40480" y="7498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840480" y="1115568"/>
            <a:ext cx="5029200" cy="640080"/>
          </a:xfrm>
          <a:prstGeom prst="rect">
            <a:avLst/>
          </a:prstGeom>
          <a:solidFill>
            <a:srgbClr val="1A2C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0" y="1115568"/>
            <a:ext cx="64008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11704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Micro / CMSIS-NN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77640" y="144475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Kernel-level INT8 inference, SIMD acceleration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40480" y="1828800"/>
            <a:ext cx="5029200" cy="640080"/>
          </a:xfrm>
          <a:prstGeom prst="rect">
            <a:avLst/>
          </a:prstGeom>
          <a:solidFill>
            <a:srgbClr val="1A2C4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0" y="1828800"/>
            <a:ext cx="64008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77640" y="18836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 / Zephyr RTOS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77640" y="215798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real-time task scheduling, &lt; 1ms jitter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40480" y="2542032"/>
            <a:ext cx="5029200" cy="640080"/>
          </a:xfrm>
          <a:prstGeom prst="rect">
            <a:avLst/>
          </a:prstGeom>
          <a:solidFill>
            <a:srgbClr val="1A2C45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0" y="2542032"/>
            <a:ext cx="64008" cy="64008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77640" y="259689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Update Manager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77640" y="287121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model updates over MQTT/BLE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840480" y="3255264"/>
            <a:ext cx="5029200" cy="640080"/>
          </a:xfrm>
          <a:prstGeom prst="rect">
            <a:avLst/>
          </a:prstGeom>
          <a:solidFill>
            <a:srgbClr val="1A2C4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0" y="3255264"/>
            <a:ext cx="64008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77640" y="33101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Watchdog Layer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977640" y="35844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to classical controller on confidence drop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840480" y="3968496"/>
            <a:ext cx="5029200" cy="640080"/>
          </a:xfrm>
          <a:prstGeom prst="rect">
            <a:avLst/>
          </a:prstGeom>
          <a:solidFill>
            <a:srgbClr val="1A2C45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0480" y="3968496"/>
            <a:ext cx="64008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77640" y="40233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&amp; Drift Monitor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977640" y="429768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drift detection, anomaly re-trigger pipeline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FOR PHYSICAL AI — CONTINUOUS LEARNING LOOP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6517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6517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robot telemetry → Edge buffer → Cloud upload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6517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14400"/>
            <a:ext cx="26517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0515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91840" y="15087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 drift detection or scheduled cadence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6517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7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14400"/>
            <a:ext cx="2651760" cy="6400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0515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7920" y="15087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vs. baseline; accuracy, latency, memory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2834640"/>
            <a:ext cx="26517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2834640"/>
            <a:ext cx="265176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971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17920" y="34290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Auto-quantize + prune using compression pipeline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834640"/>
            <a:ext cx="26517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834640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971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291840" y="34290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Hardware-in-loop (HIL) testing on target MCU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834640"/>
            <a:ext cx="26517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834640"/>
            <a:ext cx="2651760" cy="6400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971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65760" y="34290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push to robot fleet, rollback on regression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944368" y="1691640"/>
            <a:ext cx="256032" cy="64008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70448" y="1691640"/>
            <a:ext cx="256032" cy="64008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52360" y="2560320"/>
            <a:ext cx="64008" cy="274320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70448" y="3639312"/>
            <a:ext cx="256032" cy="64008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44368" y="3639312"/>
            <a:ext cx="256032" cy="64008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00200" y="2560320"/>
            <a:ext cx="64008" cy="274320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Stack: MLflow · DVC · Kubeflow Pipelines · Edge Impulse · TFLite · MQTT OTA · Evidently AI (drift)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MODEL &amp; TEAM STRUCTURE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743200" cy="3977640"/>
          </a:xfrm>
          <a:prstGeom prst="rect">
            <a:avLst/>
          </a:prstGeom>
          <a:solidFill>
            <a:srgbClr val="1A2C45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22960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188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(Weeks 1–6)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783080"/>
            <a:ext cx="2560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audit &amp; sensor integration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 pipeline setup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benchmarks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target selection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infra deployment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822960"/>
            <a:ext cx="2743200" cy="3977640"/>
          </a:xfrm>
          <a:prstGeom prst="rect">
            <a:avLst/>
          </a:prstGeom>
          <a:solidFill>
            <a:srgbClr val="1A2C45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822960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914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1188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Train (Weeks 7–16)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1783080"/>
            <a:ext cx="2560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 (4 model types)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pipeline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 testing rig setup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Impulse / TFLite integration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deployment on dev board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2200" y="822960"/>
            <a:ext cx="2743200" cy="3977640"/>
          </a:xfrm>
          <a:prstGeom prst="rect">
            <a:avLst/>
          </a:prstGeom>
          <a:solidFill>
            <a:srgbClr val="1A2C45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822960"/>
            <a:ext cx="2743200" cy="54864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914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63640" y="1188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(Weeks 17–24)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1783080"/>
            <a:ext cx="2560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OTA deployment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 loop live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monitoring dashboards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knowledge transfer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 &amp; SLA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2C45"/>
          </a:solidFill>
          <a:ln w="12700">
            <a:solidFill>
              <a:srgbClr val="1A2C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Team: AI Lead  ·  2× MLEs (TinyML)  ·  Robotics Systems Engineer  ·  MLOps Engineer  ·  Embedded SW Engineer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Act Now?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AI is the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frontier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industrial robotics.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Manufacturers deploying on-device ML today will achieve autonomous adaptability — reducing downtime by 30–45% and eliminating cloud dependency for latency-critical control loops.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640080"/>
            <a:ext cx="2651760" cy="1234440"/>
          </a:xfrm>
          <a:prstGeom prst="rect">
            <a:avLst/>
          </a:prstGeom>
          <a:solidFill>
            <a:srgbClr val="1A2C45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777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20KB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30936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Footprint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057400"/>
            <a:ext cx="2651760" cy="1234440"/>
          </a:xfrm>
          <a:prstGeom prst="rect">
            <a:avLst/>
          </a:prstGeom>
          <a:solidFill>
            <a:srgbClr val="1A2C45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1945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5ms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309360" y="2788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3474720"/>
            <a:ext cx="2651760" cy="1234440"/>
          </a:xfrm>
          <a:prstGeom prst="rect">
            <a:avLst/>
          </a:prstGeom>
          <a:solidFill>
            <a:srgbClr val="1A2C45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36118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wks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09360" y="4206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Time-to-Deploy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intelligent machines, together.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Physical AI &amp; Edge ML Framework — Yaskawa Motoman</dc:title>
  <dc:subject>PptxGenJS Presentation</dc:subject>
  <dc:creator>PptxGenJS</dc:creator>
  <cp:lastModifiedBy>PptxGenJS</cp:lastModifiedBy>
  <cp:revision>1</cp:revision>
  <dcterms:created xsi:type="dcterms:W3CDTF">2026-05-28T13:31:32Z</dcterms:created>
  <dcterms:modified xsi:type="dcterms:W3CDTF">2026-05-28T13:31:32Z</dcterms:modified>
</cp:coreProperties>
</file>